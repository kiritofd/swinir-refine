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jpg" ContentType="image/jpeg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presProps" Target="presProps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Relationship Id="rId3" Type="http://schemas.openxmlformats.org/officeDocument/2006/relationships/image" Target="media/image5.svg" /><Relationship Id="rId4" Type="http://schemas.openxmlformats.org/officeDocument/2006/relationships/image" Target="media/image6.svg" /><Relationship Id="rId5" Type="http://schemas.openxmlformats.org/officeDocument/2006/relationships/image" Target="media/image7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jpg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2.svg" /><Relationship Id="rId2" Type="http://schemas.openxmlformats.org/officeDocument/2006/relationships/image" Target="media/image11.svg" /><Relationship Id="rId4" Type="http://schemas.openxmlformats.org/officeDocument/2006/relationships/image" Target="media/image13.svg" /><Relationship Id="rId5" Type="http://schemas.openxmlformats.org/officeDocument/2006/relationships/image" Target="media/image14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90, left: 70, right: 70, flexDirection: 'column', gap: 14 }}&gt;&#10;    &lt;Text style={{ fontSize: 14, color: '#1E4FA8', letterSpacing: 6, fontWeight: 'bold' }}&gt;REAL IMAGE SUPER-RESOLUTION ×2&lt;/Text&gt;&#10;    &lt;Text style={{ fontSize: 44, color: '#0E3F8C', fontWeight: 'bold', lineHeight: 1.15 }}&gt;真实配对数据上的超分：&lt;br /&gt;性能上限的测量与模型设计&lt;/Text&gt;&#10;    &lt;Box style={{ width: 90, height: 5, background: '#FFC107' }} /&gt;&#10;    &lt;Text style={{ fontSize: 17, color: '#1A2230' }}&gt;报告内容：问题定义 · 技术路线综述 · 误差上限分析 · 模型与损失设计 · 同协议全指标对比&lt;/Text&gt;&#10;  &lt;/Box&gt;&#10;&#10;  &lt;Box style={{ position: 'absolute', top: 380, left: 70, right: 70, flexDirection: 'row', gap: 16 }}&gt;&#10;    &lt;Box style={{ flex: 1, background: '#0E3F8C', padding: 18, borderRadius: 4, flexDirection: 'column', alignItems: 'center', gap: 2 }}&gt;&#10;      &lt;Text style={{ fontSize: 46, color: '#FFC107', fontWeight: 'bold' }}&gt;34.41&lt;/Text&gt;&#10;      &lt;Text style={{ fontSize: 13, color: '#D9E6F7' }}&gt;PSNR-Y (dB)&lt;/Text&gt;&#10;    &lt;/Box&gt;&#10;    &lt;Box style={{ flex: 1, background: '#0E3F8C', padding: 18, borderRadius: 4, flexDirection: 'column', alignItems: 'center', gap: 2 }}&gt;&#10;      &lt;Text style={{ fontSize: 46, color: '#FFC107', fontWeight: 'bold' }}&gt;0.9285&lt;/Text&gt;&#10;      &lt;Text style={{ fontSize: 13, color: '#D9E6F7' }}&gt;SSIM&lt;/Text&gt;&#10;    &lt;/Box&gt;&#10;    &lt;Box style={{ flex: 1, background: '#0E3F8C', padding: 18, borderRadius: 4, flexDirection: 'column', alignItems: 'center', gap: 2 }}&gt;&#10;      &lt;Text style={{ fontSize: 46, color: '#FFC107', fontWeight: 'bold' }}&gt;55.96&lt;/Text&gt;&#10;      &lt;Text style={{ fontSize: 13, color: '#D9E6F7' }}&gt;MUSIQ&lt;/Text&gt;&#10;    &lt;/Box&gt;&#10;    &lt;Box style={{ flex: 1, background: '#0E3F8C', padding: 18, borderRadius: 4, flexDirection: 'column', alignItems: 'center', gap: 2 }}&gt;&#10;      &lt;Text style={{ fontSize: 46, color: '#FFC107', fontWeight: 'bold' }}&gt;0.3534&lt;/Text&gt;&#10;      &lt;Text style={{ fontSize: 13, color: '#D9E6F7' }}&gt;MANIQA&lt;/Text&gt;&#10;    &lt;/Box&gt;&#10;  &lt;/Box&gt;&#10;&#10;  &lt;Box style={{ position: 'absolute', top: 540, left: 70, right: 70, flexDirection: 'column', gap: 8 }}&gt;&#10;    &lt;Text style={{ fontSize: 15, color: '#1A2230' }}&gt;18.7M 参数 · 零预训练 · 全部指标在官方协议下统一评测&lt;/Text&gt;&#10;    &lt;Text style={{ fontSize: 15, color: '#1A2230' }}&gt;上限由免训练的信号分析方法测出：&lt;span style={{ color: '#0E3F8C', fontWeight: 'bold' }}&gt;×2 的可达区间为 34.4–35.7 dB&lt;/span&gt;，本文结果落在该区间内&lt;/Text&gt;&#10;  &lt;/Box&gt;&#10;&#10;  &lt;Box style={{ position: 'absolute', bottom: 40, left: 70, right: 70, flexDirection: 'row', justifyContent: 'space-between', borderTop: '1px solid #D6DCE5', paddingTop: 14 }}&gt;&#10;    &lt;Text style={{ fontSize: 13, color: '#8B97A8' }}&gt;RealSR V3 · 100 对官方测试集 · Limited-range Y · uint8 · 不裁剪边界&lt;/Text&gt;&#10;    &lt;Text style={{ fontSize: 13, color: '#4A5568', fontWeight: 'bold' }}&gt;01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66750" y="857250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450">
                <a:solidFill>
                  <a:srgbClr val="1E4FA8"/>
                </a:solidFill>
                <a:latin typeface="Microsoft YaHei"/>
                <a:ea typeface="Microsoft YaHei"/>
              </a:rPr>
              <a:t>REAL IMAGE SUPER-RESOLUTION ×2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1152525"/>
            <a:ext cx="108585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真实配对数据上的超分：</a:t>
            </a:r>
            <a:endParaRPr/>
          </a:p>
          <a:p>
            <a:pPr>
              <a:lnSpc>
                <a:spcPct val="114999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性能上限的测量与模型设计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66750" y="2447925"/>
            <a:ext cx="8572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2628900"/>
            <a:ext cx="1085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报告内容：问题定义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技术路线综述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误差上限分析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模型与损失设计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同协议全指标对比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66750" y="3619500"/>
            <a:ext cx="2600325" cy="1047750"/>
          </a:xfrm>
          <a:prstGeom prst="roundRect">
            <a:avLst>
              <a:gd name="adj" fmla="val 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381125" y="3790950"/>
            <a:ext cx="11715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C107"/>
                </a:solidFill>
                <a:latin typeface="Microsoft YaHei"/>
                <a:ea typeface="Microsoft YaHei"/>
              </a:rPr>
              <a:t>34.41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600200" y="4343400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>PSNR-Y (dB)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419475" y="3619500"/>
            <a:ext cx="2600325" cy="1047750"/>
          </a:xfrm>
          <a:prstGeom prst="roundRect">
            <a:avLst>
              <a:gd name="adj" fmla="val 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000500" y="3790950"/>
            <a:ext cx="14382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C107"/>
                </a:solidFill>
                <a:latin typeface="Microsoft YaHei"/>
                <a:ea typeface="Microsoft YaHei"/>
              </a:rPr>
              <a:t>0.9285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72000" y="4343400"/>
            <a:ext cx="30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>SSIM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172200" y="3619500"/>
            <a:ext cx="2600325" cy="1047750"/>
          </a:xfrm>
          <a:prstGeom prst="roundRect">
            <a:avLst>
              <a:gd name="adj" fmla="val 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886575" y="3790950"/>
            <a:ext cx="11715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C107"/>
                </a:solidFill>
                <a:latin typeface="Microsoft YaHei"/>
                <a:ea typeface="Microsoft YaHei"/>
              </a:rPr>
              <a:t>55.96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258050" y="4343400"/>
            <a:ext cx="42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>MUSIQ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924925" y="3619500"/>
            <a:ext cx="2600325" cy="1047750"/>
          </a:xfrm>
          <a:prstGeom prst="roundRect">
            <a:avLst>
              <a:gd name="adj" fmla="val 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505950" y="3790950"/>
            <a:ext cx="14382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C107"/>
                </a:solidFill>
                <a:latin typeface="Microsoft YaHei"/>
                <a:ea typeface="Microsoft YaHei"/>
              </a:rPr>
              <a:t>0.3534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963150" y="434340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>MANIQA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66750" y="5143500"/>
            <a:ext cx="1085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18.7M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参数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零预训练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全部指标在官方协议下统一评测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66750" y="5391150"/>
            <a:ext cx="1085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上限由免训练的信号分析方法测出：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×2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的可达区间为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34.4–35.7 dB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，本文结果落在该区间内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66750" y="6181725"/>
            <a:ext cx="10858500" cy="304800"/>
          </a:xfrm>
          <a:custGeom>
            <a:pathLst>
              <a:path w="1140" h="32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66750" y="6324600"/>
            <a:ext cx="3876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RealSR V3 · 100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对官方测试集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Limited-range Y · uint8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不裁剪边界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106150" y="63246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4A5568"/>
                </a:solidFill>
                <a:latin typeface="Microsoft YaHei"/>
                <a:ea typeface="Microsoft YaHei"/>
              </a:rPr>
              <a:t>01 / 13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8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30, left: 70, right: 70, flexDirection: 'column', gap: 5 }}&gt;&#10;    &lt;Text style={{ fontSize: 13, color: '#1E4FA8', letterSpacing: 4, fontWeight: 'bold' }}&gt;01 领域 · 问题定义&lt;/Text&gt;&#10;    &lt;Text style={{ fontSize: 29, color: '#0E3F8C', fontWeight: 'bold' }}&gt;真实超分：把低分辨率照片还原为高分辨率，且训练数据来自真实拍摄&lt;/Text&gt;&#10;    &lt;Text style={{ fontSize: 13, color: '#4A5568' }}&gt;RealSR 基准（Cai et al., ICCV 2019）· 训练 406 对 · 测试 100 对&lt;/Text&gt;&#10;  &lt;/Box&gt;&#10;&#10;  &lt;Box style={{ position: 'absolute', top: 118, left: 70, width: 660, height: 452, background: '#F7F9FC', border: '1px solid #D6DCE5', borderRadius: 4, padding: 14, flexDirection: 'column', gap: 8 }}&gt;&#10;    &lt;Text style={{ fontSize: 15, color: '#0E3F8C', fontWeight: 'bold' }}&gt;配对数据的构造方式&lt;/Text&gt;&#10;&#10;    &lt;Box style={{ flex: 1, alignItems: 'center', justifyContent: 'center' }}&gt;&#10;      &lt;svg viewBox=&quot;0 0 620 240&quot; width=&quot;620&quot; height=&quot;238&quot; xmlns=&quot;http://www.w3.org/2000/svg&quot;&gt;&#10;        &lt;rect x=&quot;8&quot; y=&quot;58&quot; width=&quot;76&quot; height=&quot;120&quot; fill=&quot;#E8EFF8&quot; stroke=&quot;#0E3F8C&quot; strokeWidth=&quot;2&quot; /&gt;&#10;        &lt;text x=&quot;46&quot; y=&quot;112&quot; fontSize=&quot;12&quot; fill=&quot;#0E3F8C&quot; textAnchor=&quot;middle&quot; fontWeight=&quot;bold&quot;&gt;同一&lt;/text&gt;&#10;        &lt;text x=&quot;46&quot; y=&quot;128&quot; fontSize=&quot;12&quot; fill=&quot;#0E3F8C&quot; textAnchor=&quot;middle&quot; fontWeight=&quot;bold&quot;&gt;场景&lt;/text&gt;&#10;&#10;        &lt;line x1=&quot;84&quot; y1=&quot;95&quot; x2=&quot;122&quot; y2=&quot;95&quot; stroke=&quot;#0E3F8C&quot; strokeWidth=&quot;2&quot; /&gt;&#10;        &lt;polygon points=&quot;122,95 113,90 113,100&quot; fill=&quot;#0E3F8C&quot; /&gt;&#10;        &lt;line x1=&quot;84&quot; y1=&quot;145&quot; x2=&quot;122&quot; y2=&quot;145&quot; stroke=&quot;#0E3F8C&quot; strokeWidth=&quot;2&quot; /&gt;&#10;        &lt;polygon points=&quot;122,145 113,140 113,150&quot; fill=&quot;#0E3F8C&quot; /&gt;&#10;&#10;        &lt;rect x=&quot;122&quot; y=&quot;72&quot; width=&quot;122&quot; height=&quot;46&quot; fill=&quot;#FFFFFF&quot; stroke=&quot;#0E3F8C&quot; strokeWidth=&quot;1.5&quot; /&gt;&#10;        &lt;text x=&quot;183&quot; y=&quot;90&quot; fontSize=&quot;11&quot; fill=&quot;#1A2230&quot; textAnchor=&quot;middle&quot; fontWeight=&quot;bold&quot;&gt;短焦距拍摄&lt;/text&gt;&#10;        &lt;text x=&quot;183&quot; y=&quot;106&quot; fontSize=&quot;10&quot; fill=&quot;#4A5568&quot; textAnchor=&quot;middle&quot;&gt;Canon 5D3 / Nikon D810&lt;/text&gt;&#10;&#10;        &lt;rect x=&quot;122&quot; y=&quot;126&quot; width=&quot;122&quot; height=&quot;46&quot; fill=&quot;#FFFFFF&quot; stroke=&quot;#0E3F8C&quot; strokeWidth=&quot;1.5&quot; /&gt;&#10;        &lt;text x=&quot;183&quot; y=&quot;144&quot; fontSize=&quot;11&quot; fill=&quot;#1A2230&quot; textAnchor=&quot;middle&quot; fontWeight=&quot;bold&quot;&gt;长焦距拍摄&lt;/text&gt;&#10;        &lt;text x=&quot;183&quot; y=&quot;160&quot; fontSize=&quot;10&quot; fill=&quot;#4A5568&quot; textAnchor=&quot;middle&quot;&gt;同一机位 · 光学变焦&lt;/text&gt;&#10;&#10;        &lt;line x1=&quot;244&quot; y1=&quot;95&quot; x2=&quot;286&quot; y2=&quot;95&quot; stroke=&quot;#0E3F8C&quot; strokeWidth=&quot;2&quot; /&gt;&#10;        &lt;polygon points=&quot;286,95 277,90 277,100&quot; fill=&quot;#0E3F8C&quot; /&gt;&#10;        &lt;line x1=&quot;244&quot; y1=&quot;145&quot; x2=&quot;286&quot; y2=&quot;145&quot; stroke=&quot;#0E3F8C&quot; strokeWidth=&quot;2&quot; /&gt;&#10;        &lt;polygon points=&quot;286,145 277,140 277,150&quot; fill=&quot;#0E3F8C&quot; /&gt;&#10;&#10;        &lt;rect x=&quot;286&quot; y=&quot;60&quot; width=&quot;84&quot; height=&quot;74&quot; fill=&quot;#D6DCE5&quot; stroke=&quot;#4A5568&quot; strokeWidth=&quot;1.5&quot; /&gt;&#10;        &lt;text x=&quot;328&quot; y=&quot;94&quot; fontSize=&quot;13&quot; fill=&quot;#1A2230&quot; textAnchor=&quot;middle&quot; fontWeight=&quot;bold&quot;&gt;LR 输入&lt;/text&gt;&#10;        &lt;text x=&quot;328&quot; y=&quot;112&quot; fontSize=&quot;10&quot; fill=&quot;#4A5568&quot; textAnchor=&quot;middle&quot;&gt;低分辨率&lt;/text&gt;&#10;&#10;        &lt;rect x=&quot;286&quot; y=&quot;144&quot; width=&quot;112&quot; height=&quot;92&quot; fill=&quot;#FFFFFF&quot; stroke=&quot;#0E3F8C&quot; strokeWidth=&quot;1.5&quot; /&gt;&#10;        &lt;text x=&quot;342&quot; y=&quot;186&quot; fontSize=&quot;13&quot; fill=&quot;#0E3F8C&quot; textAnchor=&quot;middle&quot; fontWeight=&quot;bold&quot;&gt;HR 真值&lt;/text&gt;&#10;        &lt;text x=&quot;342&quot; y=&quot;204&quot; fontSize=&quot;10&quot; fill=&quot;#4A5568&quot; textAnchor=&quot;middle&quot;&gt;高分辨率&lt;/text&gt;&#10;&#10;        &lt;line x1=&quot;328&quot; y1=&quot;136&quot; x2=&quot;342&quot; y2=&quot;144&quot; stroke=&quot;#D9534F&quot; strokeWidth=&quot;1.5&quot; strokeDasharray=&quot;4,3&quot; /&gt;&#10;&#10;        &lt;rect x=&quot;428&quot; y=&quot;52&quot; width=&quot;184&quot; height=&quot;184&quot; fill=&quot;#FFF4E6&quot; stroke=&quot;#D9534F&quot; strokeWidth=&quot;1.5&quot; /&gt;&#10;        &lt;text x=&quot;520&quot; y=&quot;78&quot; fontSize=&quot;12&quot; fill=&quot;#D9534F&quot; textAnchor=&quot;middle&quot; fontWeight=&quot;bold&quot;&gt;与合成超分的区别&lt;/text&gt;&#10;        &lt;text x=&quot;444&quot; y=&quot;102&quot; fontSize=&quot;10&quot; fill=&quot;#1A2230&quot;&gt;合成超分：先对真值做模糊&lt;/text&gt;&#10;        &lt;text x=&quot;444&quot; y=&quot;118&quot; fontSize=&quot;10&quot; fill=&quot;#1A2230&quot;&gt;和下采样，再当作输入&lt;/text&gt;&#10;        &lt;text x=&quot;444&quot; y=&quot;142&quot; fontSize=&quot;10&quot; fill=&quot;#1A2230&quot;&gt;本数据集：LR 来自真实成像，&lt;/text&gt;&#10;        &lt;text x=&quot;444&quot; y=&quot;158&quot; fontSize=&quot;10&quot; fill=&quot;#1A2230&quot;&gt;LR 与 HR 是同一场景两次拍摄&lt;/text&gt;&#10;        &lt;text x=&quot;444&quot; y=&quot;182&quot; fontSize=&quot;10&quot; fill=&quot;#D9534F&quot; fontWeight=&quot;bold&quot;&gt;因此 LR 与 HR 无法完全对齐，&lt;/text&gt;&#10;        &lt;text x=&quot;444&quot; y=&quot;198&quot; fontSize=&quot;10&quot; fill=&quot;#D9534F&quot; fontWeight=&quot;bold&quot;&gt;退化核也无法写成解析式&lt;/text&gt;&#10;      &lt;/svg&gt;&#10;    &lt;/Box&gt;&#10;&#10;    &lt;Text style={{ fontSize: 12, color: '#4A5568' }}&gt;评测口径：Limited-range Y 通道 · uint8 · 按 4 整除裁剪 · 不裁剪边界 · 100 对取平均&lt;/Text&gt;&#10;  &lt;/Box&gt;&#10;&#10;  &lt;Box style={{ position: 'absolute', top: 118, right: 70, width: 470, flexDirection: 'column', gap: 11 }}&gt;&#10;&#10;    &lt;Box style={{ background: '#FFFFFF', border: '1px solid #D6DCE5', borderLeft: '5px solid #0E3F8C', borderRadius: 4, padding: 13, flexDirection: 'column', gap: 4 }}&gt;&#10;      &lt;Text style={{ fontSize: 15, color: '#0E3F8C', fontWeight: 'bold' }}&gt;难点一 · 退化未知且逐图不同&lt;/Text&gt;&#10;      &lt;Text style={{ fontSize: 12, color: '#1A2230' }}&gt;LR 的模糊程度随焦距、景深与对焦误差变化，不同场景之间也不一致。因此不存在一个可统一估计的模糊核，基于核估计的方法在本数据集上误差较大。&lt;/Text&gt;&#10;    &lt;/Box&gt;&#10;&#10;    &lt;Box style={{ background: '#FFFFFF', border: '1px solid #D6DCE5', borderLeft: '5px solid #D9534F', borderRadius: 4, padding: 13, flexDirection: 'column', gap: 4 }}&gt;&#10;      &lt;Text style={{ fontSize: 15, color: '#0E3F8C', fontWeight: 'bold' }}&gt;难点二 · LR 与 HR 存在配准残差&lt;/Text&gt;&#10;      &lt;Text style={{ fontSize: 12, color: '#1A2230' }}&gt;即便使用 SIFT + RANSAC 配准，真实变焦对仍保留约 0.2–0.5 像素的非刚性局部错位。这项误差与模型无关，直接构成 PSNR 的上限（见第 04 页）。&lt;/Text&gt;&#10;    &lt;/Box&gt;&#10;&#10;    &lt;Box style={{ background: '#FFFFFF', border: '1px solid #D6DCE5', borderLeft: '5px solid #FFC107', borderRadius: 4, padding: 13, flexDirection: 'column', gap: 4 }}&gt;&#10;      &lt;Text style={{ fontSize: 15, color: '#0E3F8C', fontWeight: 'bold' }}&gt;难点三 · HR 真值本身含传感器噪声&lt;/Text&gt;&#10;      &lt;Text style={{ fontSize: 12, color: '#1A2230' }}&gt;HR 由相机实际拍摄得到，包含光子噪声与暗电流噪声，并非理想干净图像。用小波系数中位数估计，噪声强度 σ̂ ≈ 0.90（0–255 码值）。&lt;/Text&gt;&#10;    &lt;/Box&gt;&#10;&#10;    &lt;Box style={{ background: '#F0F5FC', border: '1px solid #C7D9F2', borderRadius: 4, padding: 13, flexDirection: 'column', gap: 4 }}&gt;&#10;      &lt;Text style={{ fontSize: 14, color: '#0E3F8C', fontWeight: 'bold' }}&gt;由此产生的方法学分歧&lt;/Text&gt;&#10;      &lt;Text style={{ fontSize: 12, color: '#1A2230' }}&gt;合成数据上训练的模型在真实配对上会系统性下降；而在真实配对上，上述误差决定了 PSNR 存在有限上限。&lt;/Text&gt;&#10;    &lt;/Box&gt;&#10;  &lt;/Box&gt;&#10;&#10;  &lt;Box style={{ position: 'absolute', bottom: 24, left: 70, right: 70, flexDirection: 'row', justifyContent: 'space-between', borderTop: '1px solid #D6DCE5', paddingTop: 12 }}&gt;&#10;    &lt;Text style={{ fontSize: 12.5, color: '#8B97A8' }}&gt;参考文献：Cai et al., ICCV 2019；Zhou et al., Updating the Evaluation of Super-Resolution, CVPR 2021&lt;/Text&gt;&#10;    &lt;Text style={{ fontSize: 12, color: '#4A5568', fontWeight: 'bold' }}&gt;0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66750" y="2857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领域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问题定义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66750" y="485775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E3F8C"/>
                </a:solidFill>
                <a:latin typeface="Microsoft YaHei"/>
                <a:ea typeface="Microsoft YaHei"/>
              </a:rPr>
              <a:t>真实超分：把低分辨率照片还原为高分辨率，且训练数据来自真实拍摄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6750" y="866775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RealSR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基准（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Cai et al., ICCV 2019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训练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406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对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测试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66750" y="1123950"/>
            <a:ext cx="6286500" cy="4305300"/>
          </a:xfrm>
          <a:prstGeom prst="roundRect">
            <a:avLst>
              <a:gd name="adj" fmla="val 8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1257300"/>
            <a:ext cx="6019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配对数据的构造方式</a:t>
            </a:r>
            <a:endParaRPr/>
          </a:p>
        </p:txBody>
      </p:sp>
      <p:pic>
        <p:nvPicPr>
          <p:cNvPr id="14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162175"/>
            <a:ext cx="5905500" cy="226695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00100" y="5153025"/>
            <a:ext cx="601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评测口径：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Limited-range Y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通道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uint8 ·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按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整除裁剪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不裁剪边界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100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对取平均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7096125" y="1123950"/>
            <a:ext cx="4476750" cy="733425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7096125" y="1123950"/>
            <a:ext cx="4476750" cy="733425"/>
          </a:xfrm>
          <a:custGeom>
            <a:pathLst>
              <a:path w="470" h="77">
                <a:moveTo>
                  <a:pt x="5" y="77"/>
                </a:moveTo>
                <a:cubicBezTo>
                  <a:pt x="4" y="77"/>
                  <a:pt x="3" y="77"/>
                  <a:pt x="2" y="76"/>
                </a:cubicBezTo>
                <a:cubicBezTo>
                  <a:pt x="1" y="76"/>
                  <a:pt x="0" y="75"/>
                  <a:pt x="0" y="73"/>
                </a:cubicBezTo>
                <a:lnTo>
                  <a:pt x="0" y="73"/>
                </a:lnTo>
                <a:lnTo>
                  <a:pt x="0" y="73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219950" y="1247775"/>
            <a:ext cx="418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难点一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退化未知且逐图不同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219950" y="1457325"/>
            <a:ext cx="41814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LR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的模糊程度随焦距、景深与对焦误差变化，不同场景之间也不一致。因此不存在一个可统一估计的模糊核，基于核估计的方法在本数据集上误差较大。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096125" y="1962150"/>
            <a:ext cx="4476750" cy="733425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7096125" y="1962150"/>
            <a:ext cx="4476750" cy="733425"/>
          </a:xfrm>
          <a:custGeom>
            <a:pathLst>
              <a:path w="470" h="77">
                <a:moveTo>
                  <a:pt x="5" y="77"/>
                </a:moveTo>
                <a:cubicBezTo>
                  <a:pt x="4" y="77"/>
                  <a:pt x="3" y="77"/>
                  <a:pt x="2" y="76"/>
                </a:cubicBezTo>
                <a:cubicBezTo>
                  <a:pt x="1" y="76"/>
                  <a:pt x="0" y="75"/>
                  <a:pt x="0" y="73"/>
                </a:cubicBezTo>
                <a:lnTo>
                  <a:pt x="0" y="73"/>
                </a:lnTo>
                <a:lnTo>
                  <a:pt x="0" y="73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219950" y="2085975"/>
            <a:ext cx="418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难点二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LR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HR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存在配准残差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219950" y="2295525"/>
            <a:ext cx="41814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即便使用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SIFT + RANSAC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配准，真实变焦对仍保留约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0.2–0.5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像素的非刚性局部错位。这项误差与模型无关，直接构成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的上限（见第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04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页）。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096125" y="2800350"/>
            <a:ext cx="4476750" cy="733425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7096125" y="2800350"/>
            <a:ext cx="4476750" cy="733425"/>
          </a:xfrm>
          <a:custGeom>
            <a:pathLst>
              <a:path w="470" h="77">
                <a:moveTo>
                  <a:pt x="5" y="77"/>
                </a:moveTo>
                <a:cubicBezTo>
                  <a:pt x="4" y="77"/>
                  <a:pt x="3" y="77"/>
                  <a:pt x="2" y="76"/>
                </a:cubicBezTo>
                <a:cubicBezTo>
                  <a:pt x="1" y="76"/>
                  <a:pt x="0" y="75"/>
                  <a:pt x="0" y="73"/>
                </a:cubicBezTo>
                <a:lnTo>
                  <a:pt x="0" y="73"/>
                </a:lnTo>
                <a:lnTo>
                  <a:pt x="0" y="73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219950" y="2924175"/>
            <a:ext cx="418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难点三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HR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真值本身含传感器噪声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219950" y="3133725"/>
            <a:ext cx="41814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HR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由相机实际拍摄得到，包含光子噪声与暗电流噪声，并非理想干净图像。用小波系数中位数估计，噪声强度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σ̂ ≈ 0.90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0–255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码值）。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048500" y="3638550"/>
            <a:ext cx="4476750" cy="72390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7D9F2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172325" y="376237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由此产生的方法学分歧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172325" y="3962400"/>
            <a:ext cx="42291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合成数据上训练的模型在真实配对上会系统性下降；而在真实配对上，上述误差决定了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存在有限上限。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66750" y="6362700"/>
            <a:ext cx="10858500" cy="276225"/>
          </a:xfrm>
          <a:custGeom>
            <a:pathLst>
              <a:path w="1140" h="29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66750" y="6486525"/>
            <a:ext cx="575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参考文献：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Cai et al., ICCV 2019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；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Zhou et al., Updating the Evaluation of Super-Resolution, CVPR 2021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3472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6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20, left: 70, right: 70, flexDirection: 'column', gap: 3 }}&gt;&#10;    &lt;Text style={{ fontSize: 13, color: '#1E4FA8', letterSpacing: 4, fontWeight: 'bold' }}&gt;01 领域 · 技术路线&lt;/Text&gt;&#10;    &lt;Text style={{ fontSize: 26, color: '#0E3F8C', fontWeight: 'bold' }}&gt;真实超分的方法演进：卷积网络、对抗生成网络、扩散模型&lt;/Text&gt;&#10;    &lt;Text style={{ fontSize: 12.5, color: '#4A5568' }}&gt;数值取自各方法原始论文所报的测试集，评测协议互不相同，仅用于说明量级；本文在同协议下的对比见第 12 页&lt;/Text&gt;&#10;  &lt;/Box&gt;&#10;&#10;  {/* 表头：宽度按各栏字数比例分配（105 / 115 / 286 / 254 / 251 / 129 = 1140） */}&#10;  &lt;Box style={{ position: 'absolute', top: 92, left: 70, right: 70, flexDirection: 'row', height: 26, background: '#0E3F8C', borderRadius: 3 }}&gt;&#10;    &lt;Box style={{ width: 105, padding: 6, justifyContent: 'center' }}&gt;&lt;Text style={{ fontSize: 12.5, color: '#FFFFFF', fontWeight: 'bold' }}&gt;阶段 · 年份&lt;/Text&gt;&lt;/Box&gt;&#10;    &lt;Box style={{ width: 115, padding: 6, justifyContent: 'center' }}&gt;&lt;Text style={{ fontSize: 12.5, color: '#FFFFFF', fontWeight: 'bold' }}&gt;代表方法&lt;/Text&gt;&lt;/Box&gt;&#10;    &lt;Box style={{ width: 286, padding: 6, justifyContent: 'center' }}&gt;&lt;Text style={{ fontSize: 12.5, color: '#FFFFFF', fontWeight: 'bold' }}&gt;核心做法&lt;/Text&gt;&lt;/Box&gt;&#10;    &lt;Box style={{ width: 254, padding: 6, justifyContent: 'center' }}&gt;&lt;Text style={{ fontSize: 12.5, color: '#FFFFFF', fontWeight: 'bold' }}&gt;优势&lt;/Text&gt;&lt;/Box&gt;&#10;    &lt;Box style={{ width: 251, padding: 6, justifyContent: 'center' }}&gt;&lt;Text style={{ fontSize: 12.5, color: '#FFFFFF', fontWeight: 'bold' }}&gt;局限&lt;/Text&gt;&lt;/Box&gt;&#10;    &lt;Box style={{ flex: 1, padding: 6, justifyContent: 'center' }}&gt;&lt;Text style={{ fontSize: 12.5, color: '#FFFFFF', fontWeight: 'bold' }}&gt;报告数值&lt;/Text&gt;&lt;/Box&gt;&#10;  &lt;/Box&gt;&#10;&#10;  {/* 四代路线 */}&#10;  &lt;Box style={{ position: 'absolute', top: 118, left: 70, right: 70, height: 474, flexDirection: 'column' }}&gt;&#10;&#10;    {/* 一、卷积网络 */}&#10;    &lt;Box style={{ flexDirection: 'row', height: 114, border: '1px solid #D6DCE5' }}&gt;&#10;      &lt;Box style={{ width: 105, padding: 7, background: '#F0F5FC', borderLeft: '5px solid #0E3F8C' }}&gt;&#10;        &lt;Text style={{ fontSize: 12, color: '#0E3F8C', fontWeight: 'bold', lineHeight: 1.3 }}&gt;一、卷积网络&lt;/Text&gt;&#10;        &lt;Text style={{ fontSize: 12, color: '#4A5568', lineHeight: 1.3 }}&gt;2014 – 2019&lt;/Text&gt;&#10;      &lt;/Box&gt;&#10;      &lt;Box style={{ width: 115, padding: 7 }}&gt;&#10;        &lt;Text style={{ fontSize: 12, color: '#1A2230', lineHeight: 1.35 }}&gt;SRCNN · VDSR{&quot;\n&quot;}EDSR{&quot;\n&quot;}RCAN · LP-KPN&lt;/Text&gt;&#10;      &lt;/Box&gt;&#10;      &lt;Box style={{ width: 286, padding: 7 }}&gt;&#10;        &lt;Text style={{ fontSize: 12.5, color: '#1A2230', lineHeight: 1.4 }}&gt;用堆叠卷积拟合由低分辨率到高分辨率的映射，损失为 L1 或 L2。EDSR 去掉批归一化并加深网络，RCAN 用通道注意力对特征重新标定，LP-KPN 在拉普拉斯金字塔各层分别预测卷积核。&lt;/Text&gt;&#10;      &lt;/Box&gt;&#10;      &lt;Box style={{ width: 254, padding: 7 }}&gt;&#10;        &lt;Text style={{ fontSize: 12.5, color: '#1A2230', lineHeight: 1.4 }}&gt;训练稳定、结果可复现；在配对数据上保真度最高；推理只需一次前向，速度最快，多数落地系统仍以此为基础。&lt;/Text&gt;&#10;      &lt;/Box&gt;&#10;      &lt;Box style={{ width: 251, padding: 7 }}&gt;&#10;        &lt;Text style={{ fontSize: 12.5, color: '#D9534F', lineHeight: 1.4 }}&gt;L2 准则下的最优解是条件均值，高频纹理被平均，输出偏平滑；继续加深网络收益递减，感受野受卷积核尺寸限制。&lt;/Text&gt;&#10;      &lt;/Box&gt;&#10;      &lt;Box style={{ flex: 1, padding: 7, background: '#F7F9FC' }}&gt;&#10;        &lt;Text style={{ fontSize: 12, color: '#8B97A8', lineHeight: 1.3 }}&gt;RealSR ×2&lt;/Text&gt;&#10;        &lt;Text style={{ fontSize: 12.5, color: '#0E3F8C', fontWeight: 'bold', lineHeight: 1.35 }}&gt;LP-KPN 约 33.5–34 dB{&quot;\n&quot;}本文复现 EDSR{&quot;\n&quot;}33.60 / 0.9167&lt;/Text&gt;&#10;      &lt;/Box&gt;&#10;    &lt;/Box&gt;&#10;&#10;    {/* 二、Transformer */}&#10;    &lt;Box style={{ flexDirection: 'row', height: 114, border: '1px solid #D6DCE5', borderTop: 'none' }}&gt;&#10;      &lt;Box style={{ width: 105, padding: 7, background: '#F0F5FC', borderLeft: '5px solid #1E4FA8' }}&gt;&#10;        &lt;Text style={{ fontSize: 12, color: '#0E3F8C', fontWeight: 'bold', lineHeight: 1.3 }}&gt;二、Transformer&lt;/Text&gt;&#10;        &lt;Text style={{ fontSize: 12, color: '#4A5568', lineHeight: 1.3 }}&gt;2021 – 2023&lt;/Text&gt;&#10;      &lt;/Box&gt;&#10;      &lt;Box style={{ width: 115, padding: 7 }}&gt;&#10;        &lt;Text style={{ fontSize: 12, color: '#1A2230', lineHeight: 1.35 }}&gt;SwinIR{&quot;\n&quot;}Restormer · HAT&lt;/Text&gt;&#10;      &lt;/Box&gt;&#10;      &lt;Box style={{ width: 286, padding: 7 }}&gt;&#10;        &lt;Text style={{ fontSize: 12.5, color: '#1A2230', lineHeight: 1.4 }}&gt;把卷积替换为窗口自注意力：在局部窗口内计算注意力以控制复杂度，再通过窗口移位实现跨窗口的信息交换。相比卷积可以建模更长程的依赖关系。&lt;/Text&gt;&#10;      &lt;/Box&gt;&#10;      &lt;Box style={{ width: 254, padding: 7 }}&gt;&#10;        &lt;Text style={{ fontSize: 12.5, color: '#1A2230', lineHeight: 1.4 }}&gt;相同参数量下优于卷积网络，成为 2021 年之后的主流骨干；对退化形式的变化更鲁棒，跨数据集泛化更好。&lt;/Text&gt;&#10;      &lt;/Box&gt;&#10;      &lt;Box style={{ width: 251, padding: 7 }}&gt;&#10;        &lt;Text style={{ fontSize: 12.5, color: '#D9534F', lineHeight: 1.4 }}&gt;注意力在超分这类逐像素的密集预测任务上开销很大，计算量与显存随图像分辨率平方增长，难以避免。&lt;/Text&gt;&#10;      &lt;/Box&gt;&#10;      &lt;Box style={{ flex: 1, padding: 7, background: '#F7F9FC' }}&gt;&#10;        &lt;Text style={{ fontSize: 12, color: '#8B97A8', lineHeight: 1.3 }}&gt;RealSR ×2&lt;/Text&gt;&#10;        &lt;Text style={{ fontSize: 12.5, color: '#0E3F8C', fontWeight: 'bold', lineHeight: 1.35 }}&gt;SwinIR 约 34.1–34.4 dB{&quot;\n&quot;}本文重训 SwinIR{&quot;\n&quot;}32.97 / 0.9058&lt;/Text&gt;&#10;      &lt;/Box&gt;&#10;    &lt;/Box&gt;&#10;&#10;    {/* 三、GAN */}&#10;    &lt;Box style={{ flexDirection: 'row', height: 114, border: '1px solid #D6DCE5', borderTop: 'none' }}&gt;&#10;      &lt;Box style={{ width: 105, padding: 7, background: '#FDF3F2', borderLeft: '5px solid #D9534F' }}&gt;&#10;        &lt;Text style={{ fontSize: 12, color: '#D9534F', fontWeight: 'bold', lineHeight: 1.3 }}&gt;三、生成对抗&lt;/Text&gt;&#10;        &lt;Text style={{ fontSize: 12, color: '#4A5568', lineHeight: 1.3 }}&gt;2017 – 2022&lt;/Text&gt;&#10;      &lt;/Box&gt;&#10;      &lt;Box style={{ width: 115, padding: 7 }}&gt;&#10;        &lt;Text style={{ fontSize: 12, color: '#1A2230', lineHeight: 1.35 }}&gt;SRGAN · ESRGAN{&quot;\n&quot;}BSRGAN{&quot;\n&quot;}Real-ESRGAN&lt;/Text&gt;&#10;      &lt;/Box&gt;&#10;      &lt;Box style={{ width: 286, padding: 7 }}&gt;&#10;        &lt;Text style={{ fontSize: 12.5, color: '#1A2230', lineHeight: 1.4 }}&gt;在像素损失之外引入判别器，判别器区分重建结果与真实图像，生成器试图骗过它，对抗训练促使网络产生更锐利的高频纹理。ESRGAN 去掉批归一化并把判别器改为相对判别。&lt;/Text&gt;&#10;      &lt;/Box&gt;&#10;      &lt;Box style={{ width: 254, padding: 7 }}&gt;&#10;        &lt;Text style={{ fontSize: 12.5, color: '#1A2230', lineHeight: 1.4 }}&gt;无参考感知质量显著提升。Real-ESRGAN 通过模拟模糊、噪声、压缩串联的复杂退化过程提升了对真实退化的鲁棒性，是实用场景的主流选择。&lt;/Text&gt;&#10;      &lt;/Box&gt;&#10;      &lt;Box style={{ width: 251, padding: 7 }}&gt;&#10;        &lt;Text style={{ fontSize: 12.5, color: '#D9534F', lineHeight: 1.4 }}&gt;生成的高频在原图中并不存在，同源数据上客观保真度明显下降；对抗训练不稳定，容易产生伪影与纹理幻觉。&lt;/Text&gt;&#10;      &lt;/Box&gt;&#10;      &lt;Box style={{ flex: 1, padding: 7, background: '#F7F9FC' }}&gt;&#10;        &lt;Text style={{ fontSize: 12, color: '#8B97A8', lineHeight: 1.3 }}&gt;RealSR ×4&lt;/Text&gt;&#10;        &lt;Text style={{ fontSize: 12.5, color: '#0E3F8C', fontWeight: 'bold', lineHeight: 1.35 }}&gt;BSRGAN 26.38 / 0.7651{&quot;\n&quot;}Real-ESRGAN{&quot;\n&quot;}26.65 / 0.7603&lt;/Text&gt;&#10;      &lt;/Box&gt;&#10;    &lt;/Box&gt;&#10;&#10;    {/* 四、扩散 */}&#10;    &lt;Box style={{ flexDirection: 'row', height: 132, border: '1px solid #D6DCE5', borderTop: 'none' }}&gt;&#10;      &lt;Box style={{ width: 105, padding: 7, background: '#FFF4E6', borderLeft: '5px solid #FFC107' }}&gt;&#10;        &lt;Text style={{ fontSize: 12, color: '#0E3F8C', fontWeight: 'bold', lineHeight: 1.3 }}&gt;四、扩散模型&lt;/Text&gt;&#10;        &lt;Text style={{ fontSize: 12, color: '#4A5568', lineHeight: 1.3 }}&gt;2023 – 2025&lt;/Text&gt;&#10;      &lt;/Box&gt;&#10;      &lt;Box style={{ width: 115, padding: 7 }}&gt;&#10;        &lt;Text style={{ fontSize: 12, color: '#1A2230', lineHeight: 1.35 }}&gt;StableSR · DiffBIR{&quot;\n&quot;}ResShift · SeeSR{&quot;\n&quot;}OSEDiff&lt;/Text&gt;&#10;      &lt;/Box&gt;&#10;      &lt;Box style={{ width: 286, padding: 7 }}&gt;&#10;        &lt;Text style={{ fontSize: 12.5, color: '#1A2230', lineHeight: 1.4 }}&gt;把超分建模为逐步去噪的生成过程：先学习图像分布，推理时从噪声出发逐步恢复。StableSR 等借助大规模预训练扩散模型的先验约束解空间，ResShift 等压缩采样步数以降低延迟。&lt;/Text&gt;&#10;      &lt;/Box&gt;&#10;      &lt;Box style={{ width: 254, padding: 7 }}&gt;&#10;        &lt;Text style={{ fontSize: 12.5, color: '#1A2230', lineHeight: 1.4 }}&gt;无参考感知指标最高，可以输出多个合理结果，对严重退化鲁棒。StableSR 与 SeeSR 在 ×4 下 PSNR 为 28.04 与 28.14，MUSIQ 达 58.5 与 64.7。&lt;/Text&gt;&#10;      &lt;/Box&gt;&#10;      &lt;Box style={{ width: 251, padding: 7 }}&gt;&#10;        &lt;Text style={{ fontSize: 12.5, color: '#D9534F', lineHeight: 1.4 }}&gt;保真度低于判别式方法；推理需多步采样，计算成本高；性能依赖大规模预训练模型与海量数据，在仅有数百对样本的真实配对数据上难以复现 —— 本文自训的对照臂只有 28.36。&lt;/Text&gt;&#10;      &lt;/Box&gt;&#10;      &lt;Box style={{ flex: 1, padding: 7, background: '#FFF4E6' }}&gt;&#10;        &lt;Text style={{ fontSize: 12, color: '#8B97A8', lineHeight: 1.3 }}&gt;RealSR ×4&lt;/Text&gt;&#10;        &lt;Text style={{ fontSize: 12.5, color: '#0E3F8C', fontWeight: 'bold', lineHeight: 1.35 }}&gt;StableSR 28.04{&quot;\n&quot;}DiffBIR 25.93{&quot;\n&quot;}SeeSR 28.14{&quot;\n&quot;}本文对照臂 28.36&lt;/Text&gt;&#10;      &lt;/Box&gt;&#10;    &lt;/Box&gt;&#10;  &lt;/Box&gt;&#10;&#10;  &lt;Box style={{ position: 'absolute', bottom: 22, left: 70, right: 70, flexDirection: 'row', justifyContent: 'space-between', borderTop: '1px solid #D6DCE5', paddingTop: 11 }}&gt;&#10;    &lt;Text style={{ fontSize: 12.5, color: '#8B97A8' }}&gt;数据来源：docs/baseline/README.md。前两代以配对真值的像素与结构指标为目标，后两代以人眼观感为目标，两者在数学上相互制约&lt;/Text&gt;&#10;    &lt;Text style={{ fontSize: 12, color: '#4A5568', fontWeight: 'bold' }}&gt;03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66750" y="19050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领域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技术路线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真实超分的方法演进：卷积网络、对抗生成网络、扩散模型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66750" y="704850"/>
            <a:ext cx="1085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数值取自各方法原始论文所报的测试集，评测协议互不相同，仅用于说明量级；本文在同协议下的对比见第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66750" y="876300"/>
            <a:ext cx="10858500" cy="24765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23900" y="933450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年份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724025" y="933450"/>
            <a:ext cx="981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代表方法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19400" y="933450"/>
            <a:ext cx="2609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核心做法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543550" y="933450"/>
            <a:ext cx="2305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优势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962900" y="933450"/>
            <a:ext cx="2276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局限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353675" y="933450"/>
            <a:ext cx="1114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报告数值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66750" y="1123950"/>
            <a:ext cx="10858500" cy="10858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714375" y="1123950"/>
            <a:ext cx="952500" cy="1085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66750" y="1123950"/>
            <a:ext cx="1000125" cy="1085850"/>
          </a:xfrm>
          <a:custGeom>
            <a:pathLst>
              <a:path w="105" h="114">
                <a:moveTo>
                  <a:pt x="0" y="0"/>
                </a:moveTo>
                <a:lnTo>
                  <a:pt x="5" y="0"/>
                </a:lnTo>
                <a:lnTo>
                  <a:pt x="5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81050" y="1190625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 b="1">
                <a:solidFill>
                  <a:srgbClr val="0E3F8C"/>
                </a:solidFill>
                <a:latin typeface="Microsoft YaHei"/>
                <a:ea typeface="Microsoft YaHei"/>
              </a:rPr>
              <a:t>一、卷积网络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81050" y="1371600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2014 – 2019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733550" y="1190625"/>
            <a:ext cx="962025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SRCNN · VDSR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EDSR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RCAN · LP-KPN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828925" y="1190625"/>
            <a:ext cx="25908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用堆叠卷积拟合由低分辨率到高分辨率的映射，损失为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或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L2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EDSR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去掉批归一化并加深网络，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RCAN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用通道注意力对特征重新标定，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LP-KPN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在拉普拉斯金字塔各层分别预测卷积核。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553075" y="1190625"/>
            <a:ext cx="2286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训练稳定、结果可复现；在配对数据上保真度最高；推理只需一次前向，速度最快，多数落地系统仍以此为基础。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972425" y="1190625"/>
            <a:ext cx="22574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38">
                <a:solidFill>
                  <a:srgbClr val="D9534F"/>
                </a:solidFill>
                <a:latin typeface="Microsoft YaHei"/>
                <a:ea typeface="Microsoft YaHei"/>
              </a:rPr>
              <a:t xml:space="preserve">L2 </a:t>
            </a:r>
            <a:r>
              <a:rPr lang="zh-CN" sz="938">
                <a:solidFill>
                  <a:srgbClr val="D9534F"/>
                </a:solidFill>
                <a:latin typeface="Microsoft YaHei"/>
                <a:ea typeface="Microsoft YaHei"/>
              </a:rPr>
              <a:t>准则下的最优解是条件均值，高频纹理被平均，输出偏平滑；继续加深网络收益递减，感受野受卷积核尺寸限制。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10296525" y="1123950"/>
            <a:ext cx="1228725" cy="1085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363200" y="1190625"/>
            <a:ext cx="10953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RealSR ×2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363200" y="1371600"/>
            <a:ext cx="10953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LP-KPN </a:t>
            </a:r>
            <a:r>
              <a:rPr lang="zh-CN" sz="938" b="1">
                <a:solidFill>
                  <a:srgbClr val="0E3F8C"/>
                </a:solidFill>
                <a:latin typeface="Microsoft YaHei"/>
                <a:ea typeface="Microsoft YaHei"/>
              </a:rPr>
              <a:t>约</a:t>
            </a: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33.5–34 dB</a:t>
            </a:r>
            <a:endParaRPr/>
          </a:p>
          <a:p>
            <a:pPr>
              <a:lnSpc>
                <a:spcPct val="135000"/>
              </a:lnSpc>
            </a:pPr>
            <a:r>
              <a:rPr lang="zh-CN" sz="938" b="1">
                <a:solidFill>
                  <a:srgbClr val="0E3F8C"/>
                </a:solidFill>
                <a:latin typeface="Microsoft YaHei"/>
                <a:ea typeface="Microsoft YaHei"/>
              </a:rPr>
              <a:t>本文复现</a:t>
            </a: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EDSR</a:t>
            </a:r>
            <a:endParaRPr/>
          </a:p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33.60 / 0.9167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66750" y="2209800"/>
            <a:ext cx="10858500" cy="10858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714375" y="2209800"/>
            <a:ext cx="952500" cy="10858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66750" y="2209800"/>
            <a:ext cx="1000125" cy="1085850"/>
          </a:xfrm>
          <a:custGeom>
            <a:pathLst>
              <a:path w="105" h="114">
                <a:moveTo>
                  <a:pt x="0" y="0"/>
                </a:moveTo>
                <a:lnTo>
                  <a:pt x="5" y="0"/>
                </a:lnTo>
                <a:lnTo>
                  <a:pt x="5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81050" y="2276475"/>
            <a:ext cx="8191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 b="1">
                <a:solidFill>
                  <a:srgbClr val="0E3F8C"/>
                </a:solidFill>
                <a:latin typeface="Microsoft YaHei"/>
                <a:ea typeface="Microsoft YaHei"/>
              </a:rPr>
              <a:t>二、</a:t>
            </a:r>
            <a:r>
              <a:rPr lang="en-US" sz="900" b="1">
                <a:solidFill>
                  <a:srgbClr val="0E3F8C"/>
                </a:solidFill>
                <a:latin typeface="Microsoft YaHei"/>
                <a:ea typeface="Microsoft YaHei"/>
              </a:rPr>
              <a:t>Transformer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81050" y="2638425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2021 – 2023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733550" y="2276475"/>
            <a:ext cx="962025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SwinIR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Restormer · HAT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828925" y="2276475"/>
            <a:ext cx="25908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把卷积替换为窗口自注意力：在局部窗口内计算注意力以控制复杂度，再通过窗口移位实现跨窗口的信息交换。相比卷积可以建模更长程的依赖关系。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553075" y="2276475"/>
            <a:ext cx="2286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相同参数量下优于卷积网络，成为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2021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年之后的主流骨干；对退化形式的变化更鲁棒，跨数据集泛化更好。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972425" y="2276475"/>
            <a:ext cx="22574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D9534F"/>
                </a:solidFill>
                <a:latin typeface="Microsoft YaHei"/>
                <a:ea typeface="Microsoft YaHei"/>
              </a:rPr>
              <a:t>注意力在超分这类逐像素的密集预测任务上开销很大，计算量与显存随图像分辨率平方增长，难以避免。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10296525" y="2209800"/>
            <a:ext cx="1228725" cy="1085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363200" y="2276475"/>
            <a:ext cx="10953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RealSR ×2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363200" y="2457450"/>
            <a:ext cx="10953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SwinIR </a:t>
            </a:r>
            <a:r>
              <a:rPr lang="zh-CN" sz="938" b="1">
                <a:solidFill>
                  <a:srgbClr val="0E3F8C"/>
                </a:solidFill>
                <a:latin typeface="Microsoft YaHei"/>
                <a:ea typeface="Microsoft YaHei"/>
              </a:rPr>
              <a:t>约</a:t>
            </a: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34.1–34.4 dB</a:t>
            </a:r>
            <a:endParaRPr/>
          </a:p>
          <a:p>
            <a:pPr>
              <a:lnSpc>
                <a:spcPct val="135000"/>
              </a:lnSpc>
            </a:pPr>
            <a:r>
              <a:rPr lang="zh-CN" sz="938" b="1">
                <a:solidFill>
                  <a:srgbClr val="0E3F8C"/>
                </a:solidFill>
                <a:latin typeface="Microsoft YaHei"/>
                <a:ea typeface="Microsoft YaHei"/>
              </a:rPr>
              <a:t>本文重训</a:t>
            </a: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SwinIR</a:t>
            </a:r>
            <a:endParaRPr/>
          </a:p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32.97 / 0.9058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66750" y="3295650"/>
            <a:ext cx="10858500" cy="108585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714375" y="3295650"/>
            <a:ext cx="952500" cy="1085850"/>
          </a:xfrm>
          <a:prstGeom prst="rect">
            <a:avLst/>
          </a:prstGeom>
          <a:solidFill>
            <a:srgbClr val="FDF3F2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66750" y="3295650"/>
            <a:ext cx="1000125" cy="1085850"/>
          </a:xfrm>
          <a:custGeom>
            <a:pathLst>
              <a:path w="105" h="114">
                <a:moveTo>
                  <a:pt x="0" y="0"/>
                </a:moveTo>
                <a:lnTo>
                  <a:pt x="5" y="0"/>
                </a:lnTo>
                <a:lnTo>
                  <a:pt x="5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 b="1">
                <a:solidFill>
                  <a:srgbClr val="D9534F"/>
                </a:solidFill>
                <a:latin typeface="Microsoft YaHei"/>
                <a:ea typeface="Microsoft YaHei"/>
              </a:rPr>
              <a:t>三、生成对抗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81050" y="3543300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2017 – 2022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733550" y="3362325"/>
            <a:ext cx="962025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SRGAN · ESRGAN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BSRGAN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Real-ESRGAN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828925" y="3362325"/>
            <a:ext cx="25908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在像素损失之外引入判别器，判别器区分重建结果与真实图像，生成器试图骗过它，对抗训练促使网络产生更锐利的高频纹理。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ESRGAN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去掉批归一化并把判别器改为相对判别。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553075" y="3362325"/>
            <a:ext cx="22860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无参考感知质量显著提升。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Real-ESRGAN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通过模拟模糊、噪声、压缩串联的复杂退化过程提升了对真实退化的鲁棒性，是实用场景的主流选择。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972425" y="3362325"/>
            <a:ext cx="22574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D9534F"/>
                </a:solidFill>
                <a:latin typeface="Microsoft YaHei"/>
                <a:ea typeface="Microsoft YaHei"/>
              </a:rPr>
              <a:t>生成的高频在原图中并不存在，同源数据上客观保真度明显下降；对抗训练不稳定，容易产生伪影与纹理幻觉。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10296525" y="3295650"/>
            <a:ext cx="1228725" cy="10858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363200" y="3362325"/>
            <a:ext cx="10953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RealSR ×4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363200" y="3543300"/>
            <a:ext cx="10953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BSRGAN 26.38 / 0.7651</a:t>
            </a:r>
            <a:endParaRPr/>
          </a:p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Real-ESRGAN</a:t>
            </a:r>
            <a:endParaRPr/>
          </a:p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26.65 / 0.7603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66750" y="4381500"/>
            <a:ext cx="10858500" cy="12573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714375" y="4381500"/>
            <a:ext cx="952500" cy="12573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66750" y="4381500"/>
            <a:ext cx="1000125" cy="1257300"/>
          </a:xfrm>
          <a:custGeom>
            <a:pathLst>
              <a:path w="105" h="132">
                <a:moveTo>
                  <a:pt x="0" y="0"/>
                </a:moveTo>
                <a:lnTo>
                  <a:pt x="5" y="0"/>
                </a:lnTo>
                <a:lnTo>
                  <a:pt x="5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81050" y="4448175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 b="1">
                <a:solidFill>
                  <a:srgbClr val="0E3F8C"/>
                </a:solidFill>
                <a:latin typeface="Microsoft YaHei"/>
                <a:ea typeface="Microsoft YaHei"/>
              </a:rPr>
              <a:t>四、扩散模型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81050" y="4629150"/>
            <a:ext cx="8191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2023 – 2025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733550" y="4448175"/>
            <a:ext cx="962025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StableSR · DiffBIR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ResShift · SeeSR</a:t>
            </a:r>
            <a:endParaRPr/>
          </a:p>
          <a:p>
            <a:pPr>
              <a:lnSpc>
                <a:spcPct val="135000"/>
              </a:lnSpc>
            </a:pP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OSEDiff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828925" y="4448175"/>
            <a:ext cx="25908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把超分建模为逐步去噪的生成过程：先学习图像分布，推理时从噪声出发逐步恢复。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StableSR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等借助大规模预训练扩散模型的先验约束解空间，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ResShift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等压缩采样步数以降低延迟。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553075" y="4448175"/>
            <a:ext cx="22860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无参考感知指标最高，可以输出多个合理结果，对严重退化鲁棒。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StableSR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SeeSR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×4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下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为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28.04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28.14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MUSIQ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达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58.5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64.7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972425" y="4448175"/>
            <a:ext cx="225742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38">
                <a:solidFill>
                  <a:srgbClr val="D9534F"/>
                </a:solidFill>
                <a:latin typeface="Microsoft YaHei"/>
                <a:ea typeface="Microsoft YaHei"/>
              </a:rPr>
              <a:t>保真度低于判别式方法；推理需多步采样，计算成本高；性能依赖大规模预训练模型与海量数据，在仅有数百对样本的真实配对数据上难以复现</a:t>
            </a:r>
            <a:r>
              <a:rPr lang="en-US" sz="938">
                <a:solidFill>
                  <a:srgbClr val="D9534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38">
                <a:solidFill>
                  <a:srgbClr val="D9534F"/>
                </a:solidFill>
                <a:latin typeface="Microsoft YaHei"/>
                <a:ea typeface="Microsoft YaHei"/>
              </a:rPr>
              <a:t>本文自训的对照臂只有</a:t>
            </a:r>
            <a:r>
              <a:rPr lang="en-US" sz="938">
                <a:solidFill>
                  <a:srgbClr val="D9534F"/>
                </a:solidFill>
                <a:latin typeface="Microsoft YaHei"/>
                <a:ea typeface="Microsoft YaHei"/>
              </a:rPr>
              <a:t xml:space="preserve"> 28.36</a:t>
            </a:r>
            <a:r>
              <a:rPr lang="zh-CN" sz="938">
                <a:solidFill>
                  <a:srgbClr val="D9534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10296525" y="4381500"/>
            <a:ext cx="1228725" cy="12573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363200" y="4448175"/>
            <a:ext cx="10953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RealSR ×4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0363200" y="4629150"/>
            <a:ext cx="1095375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StableSR 28.04</a:t>
            </a:r>
            <a:endParaRPr/>
          </a:p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DiffBIR 25.93</a:t>
            </a:r>
            <a:endParaRPr/>
          </a:p>
          <a:p>
            <a:pPr>
              <a:lnSpc>
                <a:spcPct val="135000"/>
              </a:lnSpc>
            </a:pP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>SeeSR 28.14</a:t>
            </a:r>
            <a:endParaRPr/>
          </a:p>
          <a:p>
            <a:pPr>
              <a:lnSpc>
                <a:spcPct val="135000"/>
              </a:lnSpc>
            </a:pPr>
            <a:r>
              <a:rPr lang="zh-CN" sz="938" b="1">
                <a:solidFill>
                  <a:srgbClr val="0E3F8C"/>
                </a:solidFill>
                <a:latin typeface="Microsoft YaHei"/>
                <a:ea typeface="Microsoft YaHei"/>
              </a:rPr>
              <a:t>本文对照臂</a:t>
            </a:r>
            <a:r>
              <a:rPr lang="en-US" sz="938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28.36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66750" y="6391275"/>
            <a:ext cx="10858500" cy="266700"/>
          </a:xfrm>
          <a:custGeom>
            <a:pathLst>
              <a:path w="1140" h="2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66750" y="6505575"/>
            <a:ext cx="7267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数据来源：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docs/baseline/README.md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。前两代以配对真值的像素与结构指标为目标，后两代以人眼观感为目标，两者在数学上相互制约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134725" y="65055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230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26, left: 70, right: 70, flexDirection: 'column', gap: 4 }}&gt;&#10;    &lt;Text style={{ fontSize: 13, color: '#1E4FA8', letterSpacing: 4, fontWeight: 'bold' }}&gt;02 分析 · 性能上限实测&lt;/Text&gt;&#10;    &lt;Text style={{ fontSize: 28, color: '#0E3F8C', fontWeight: 'bold' }}&gt;误差中不可消除的三部分，以及由此确定的上限&lt;/Text&gt;&#10;    &lt;Text style={{ fontSize: 12, color: '#4A5568' }}&gt;无需训练任何模型：对 100 张真值直接做信号分析即可测得&lt;/Text&gt;&#10;  &lt;/Box&gt;&#10;&#10;  &lt;Box style={{ position: 'absolute', top: 100, left: 70, right: 70, height: 72, background: '#0E3F8C', borderRadius: 4, flexDirection: 'row', alignItems: 'center', gap: 22, padding: 13 }}&gt;&#10;    &lt;Math latex='\mathrm{MSE}_{\mathrm{total}} \;=\; E_{\mathrm{align}} \;+\; E_{\mathrm{null}} \;+\; E_{\mathrm{noise}}' width={540} display={true} color='#FFFFFF' /&gt;&#10;    &lt;Box style={{ flexDirection: 'row', gap: 8 }}&gt;&#10;      &lt;Box style={{ background: 'rgba(255,255,255,0.14)', padding: 5, borderRadius: 3 }}&gt;&lt;Text style={{ fontSize: 12, color: '#FFFFFF' }}&gt;配准残差&lt;/Text&gt;&lt;/Box&gt;&#10;      &lt;Box style={{ background: 'rgba(255,255,255,0.14)', padding: 5, borderRadius: 3 }}&gt;&lt;Text style={{ fontSize: 12, color: '#FFFFFF' }}&gt;带宽损失&lt;/Text&gt;&lt;/Box&gt;&#10;      &lt;Box style={{ background: 'rgba(255,255,255,0.14)', padding: 5, borderRadius: 3 }}&gt;&lt;Text style={{ fontSize: 12, color: '#FFFFFF' }}&gt;传感器噪声&lt;/Text&gt;&lt;/Box&gt;&#10;    &lt;/Box&gt;&#10;  &lt;/Box&gt;&#10;&#10;  &lt;Box style={{ position: 'absolute', top: 188, left: 70, width: 660, height: 348, background: '#F7F9FC', border: '1px solid #D6DCE5', borderRadius: 4, padding: 13, flexDirection: 'column', gap: 7 }}&gt;&#10;    &lt;Text style={{ fontSize: 14, color: '#0E3F8C', fontWeight: 'bold' }}&gt;三项误差分别折算为 PSNR 上限（dB，数值越高表示该项限制越弱）&lt;/Text&gt;&#10;    &lt;Table&#10;      style={{ width: '100%', height: 286 }}&#10;      defaultTextStyle={{ fontSize: 12, textAlign: 'center', color: '#1A2230' }}&#10;      defaultCellStyle={{ border: { left: { width: 1, color: '#D6DCE5' }, right: { width: 1, color: '#D6DCE5' }, top: { width: 1, color: '#D6DCE5' }, bottom: { width: 1, color: '#D6DCE5' } }, padding: 4 }}&#10;      cells={[&#10;        [&#10;          { text: '误差来源', textStyle: { bold: true, color: '#FFFFFF', fontSize: 12.5 }, cellStyle: { background: { color: '#0E3F8C' } } },&#10;          { text: '测量方式', textStyle: { bold: true, color: '#FFFFFF', fontSize: 12.5 }, cellStyle: { background: { color: '#0E3F8C' } } },&#10;          { text: '×2', textStyle: { bold: true, color: '#FFFFFF', fontSize: 12.5 }, cellStyle: { background: { color: '#0E3F8C' } } },&#10;          { text: '×3', textStyle: { bold: true, color: '#FFFFFF', fontSize: 12.5 }, cellStyle: { background: { color: '#0E3F8C' } } },&#10;          { text: '×4', textStyle: { bold: true, color: '#FFFFFF', fontSize: 12.5 }, cellStyle: { background: { color: '#0E3F8C' } } },&#10;        ],&#10;        [&#10;          { text: '带宽损失 E_null', textStyle: { fontSize: 12.5, textAlign: 'left', bold: true } },&#10;          { text: '理想低通后重测', textStyle: { fontSize: 12, textAlign: 'left' } },&#10;          { text: '40.65', textStyle: { bold: true } },&#10;          { text: '34.55' },&#10;          { text: '31.27' },&#10;        ],&#10;        [&#10;          { text: '传感器噪声 E_noise', textStyle: { fontSize: 12.5, textAlign: 'left', bold: true }, cellStyle: { background: { color: '#FFFFFF' } } },&#10;          { text: '小波系数中位数 σ̂≈0.90', textStyle: { fontSize: 12, textAlign: 'left' }, cellStyle: { background: { color: '#FFFFFF' } } },&#10;          { text: '49.05', textStyle: { bold: true }, cellStyle: { background: { color: '#FFFFFF' } } },&#10;          { text: '49.05', cellStyle: { background: { color: '#FFFFFF' } } },&#10;          { text: '49.05', cellStyle: { background: { color: '#FFFFFF' } } },&#10;        ],&#10;        [&#10;          { text: '前两项合成', textStyle: { fontSize: 12.5, textAlign: 'left', bold: true } },&#10;          { text: '带宽叠加噪声', textStyle: { fontSize: 12, textAlign: 'left' } },&#10;          { text: '40.1', textStyle: { bold: true, color: '#0E3F8C' } },&#10;          { text: '34.4' },&#10;          { text: '31.2' },&#10;        ],&#10;        [&#10;          { text: '再叠加 0.3 px 配准残差 E_align', textStyle: { fontSize: 12.5, textAlign: 'left', bold: true, color: '#D9534F' }, cellStyle: { background: { color: '#FFF4E6' } } },&#10;          { text: '亚像素平移后重测', textStyle: { fontSize: 12, textAlign: 'left' }, cellStyle: { background: { color: '#FFF4E6' } } },&#10;          { text: '35.7', textStyle: { bold: true, color: '#D9534F' }, cellStyle: { background: { color: '#FFF4E6' } } },&#10;          { text: '约 32', cellStyle: { background: { color: '#FFF4E6' } } },&#10;          { text: '约 29.5', cellStyle: { background: { color: '#FFF4E6' } } },&#10;        ],&#10;        [&#10;          { text: '配准更差：0.5 px', textStyle: { fontSize: 12.5, textAlign: 'left', bold: true } },&#10;          { text: '同上', textStyle: { fontSize: 12, textAlign: 'left' } },&#10;          { text: '33.4', textStyle: { bold: true, color: '#D9534F' } },&#10;          { text: '—' },&#10;          { text: '—' },&#10;        ],&#10;        [&#10;          { text: '本文实测', textStyle: { fontSize: 12.5, textAlign: 'left', bold: true }, cellStyle: { background: { color: '#F0F5FC' } } },&#10;          { text: '本协议 100 对', textStyle: { fontSize: 12, textAlign: 'left' }, cellStyle: { background: { color: '#F0F5FC' } } },&#10;          { text: '34.41', textStyle: { bold: true, color: '#0E3F8C', fontSize: 12 }, cellStyle: { background: { color: '#F0F5FC' } } },&#10;          { text: '31.13', cellStyle: { background: { color: '#F0F5FC' } } },&#10;          { text: '29.51', cellStyle: { background: { color: '#F0F5FC' } } },&#10;        ],&#10;      ]}&#10;    /&gt;&#10;  &lt;/Box&gt;&#10;&#10;  &lt;Box style={{ position: 'absolute', top: 188, right: 70, width: 470, flexDirection: 'column', gap: 10 }}&gt;&#10;    &lt;Box style={{ background: '#FFFFFF', border: '2px solid #D9534F', borderRadius: 4, padding: 13, flexDirection: 'column', gap: 5 }}&gt;&#10;      &lt;Text style={{ fontSize: 13, color: '#D9534F', fontWeight: 'bold' }}&gt;主要限制项 · ×2&lt;/Text&gt;&#10;      &lt;Text style={{ fontSize: 14, color: '#1A2230', fontWeight: 'bold' }}&gt;配准残差，而非带宽或噪声&lt;/Text&gt;&#10;      &lt;Text style={{ fontSize: 12.5, color: '#4A5568' }}&gt;噪声对应上限为 49.05 dB，远高于带宽项 40.65 dB，说明噪声几乎不构成限制。配准残差把上限从 40.1 dB 压低到 35.7 dB。&lt;/Text&gt;&#10;    &lt;/Box&gt;&#10;&#10;    &lt;Box style={{ background: '#F0F5FC', border: '1px solid #C7D9F2', borderRadius: 4, padding: 13, flexDirection: 'column', gap: 5 }}&gt;&#10;      &lt;Text style={{ fontSize: 13, color: '#0E3F8C', fontWeight: 'bold' }}&gt;×2 可达区间&lt;/Text&gt;&#10;      &lt;Text style={{ fontSize: 30, color: '#0E3F8C', fontWeight: 'bold' }}&gt;34.4 – 35.7 dB&lt;/Text&gt;&#10;      &lt;Text style={{ fontSize: 12, color: '#1A2230' }}&gt;本文的 34.41 dB 位于该区间内，剩余误差主要来自上述物理因素。&lt;/Text&gt;&#10;    &lt;/Box&gt;&#10;&#10;    &lt;Box style={{ background: '#FFFFFF', border: '1px solid #D6DCE5', borderTop: '3px solid #FFC107', borderRadius: 4, padding: 13, flexDirection: 'column', gap: 4 }}&gt;&#10;      &lt;Text style={{ fontSize: 13, color: '#0E3F8C', fontWeight: 'bold' }}&gt;×3 与 ×4 情况不同&lt;/Text&gt;&#10;      &lt;Text style={{ fontSize: 12.5, color: '#1A2230' }}&gt;×3 实测 31.13 dB，上限约 34.4 dB，相差约 3 dB，仍有提升空间。&lt;/Text&gt;&#10;      &lt;Text style={{ fontSize: 12.5, color: '#1A2230' }}&gt;×4 实测 29.51 dB，上限 31.2 dB，已接近上限。&lt;/Text&gt;&#10;    &lt;/Box&gt;&#10;  &lt;/Box&gt;&#10;&#10;  &lt;Box style={{ position: 'absolute', bottom: 22, left: 70, right: 70, flexDirection: 'row', justifyContent: 'space-between', borderTop: '1px solid #D6DCE5', paddingTop: 11 }}&gt;&#10;    &lt;Text style={{ fontSize: 12.5, color: '#8B97A8' }}&gt;测量实现：diffusion/oracle.py · 不含任何训练模型 · 直接对 100 张真值做信号分析&lt;/Text&gt;&#10;    &lt;Text style={{ fontSize: 12, color: '#4A5568', fontWeight: 'bold' }}&gt;04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66750" y="2476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分析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性能上限实测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66750" y="438150"/>
            <a:ext cx="10858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E3F8C"/>
                </a:solidFill>
                <a:latin typeface="Microsoft YaHei"/>
                <a:ea typeface="Microsoft YaHei"/>
              </a:rPr>
              <a:t>误差中不可消除的三部分，以及由此确定的上限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66750" y="800100"/>
            <a:ext cx="1085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无需训练任何模型：对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张真值直接做信号分析即可测得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66750" y="952500"/>
            <a:ext cx="10858500" cy="685800"/>
          </a:xfrm>
          <a:prstGeom prst="roundRect">
            <a:avLst>
              <a:gd name="adj" fmla="val 5556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37" name="" descr="\mathrm{MSE}_{\mathrm{total}} \;=\; E_{\mathrm{align}} \;+\; E_{\mathrm{null}} \;+\; E_{\mathrm{noise}}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133475"/>
            <a:ext cx="5143500" cy="333375"/>
          </a:xfrm>
          <a:prstGeom prst="rect"/>
          <a:ln/>
        </p:spPr>
      </p:pic>
      <p:sp>
        <p:nvSpPr>
          <p:cNvPr id="238" name=""/>
          <p:cNvSpPr/>
          <p:nvPr/>
        </p:nvSpPr>
        <p:spPr>
          <a:xfrm rot="0" flipH="0" flipV="0">
            <a:off x="6143625" y="1181100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191250" y="12287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配准残差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772275" y="1181100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19900" y="12287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带宽损失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400925" y="1181100"/>
            <a:ext cx="666750" cy="238125"/>
          </a:xfrm>
          <a:prstGeom prst="roundRect">
            <a:avLst>
              <a:gd name="adj" fmla="val 12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48550" y="12287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传感器噪声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66750" y="1790700"/>
            <a:ext cx="6286500" cy="3314700"/>
          </a:xfrm>
          <a:prstGeom prst="roundRect">
            <a:avLst>
              <a:gd name="adj" fmla="val 11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90575" y="1914525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三项误差分别折算为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上限（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dB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，数值越高表示该项限制越弱）</a:t>
            </a:r>
            <a:endParaRPr/>
          </a:p>
        </p:txBody>
      </p:sp>
      <p:graphicFrame>
        <p:nvGraphicFramePr>
          <p:cNvPr id="246" name=""/>
          <p:cNvGraphicFramePr/>
          <p:nvPr/>
        </p:nvGraphicFramePr>
        <p:xfrm rot="0" flipH="0" flipV="0">
          <a:off x="790575" y="2143125"/>
          <a:ext cx="6038850" cy="2724150"/>
        </p:xfrm>
        <a:graphic>
          <a:graphicData uri="http://schemas.openxmlformats.org/drawingml/2006/table">
            <a:tbl>
              <a:tblGrid>
                <a:gridCol w="2460370">
                  <a:extLst>
                    <a:ext uri="{9D8B030D-6E8A-4147-A177-3AD203B41FA5}">
                      <a16:colId val="1"/>
                    </a:ext>
                  </a:extLst>
                </a:gridCol>
                <a:gridCol w="1814292">
                  <a:extLst>
                    <a:ext uri="{9D8B030D-6E8A-4147-A177-3AD203B41FA5}">
                      <a16:colId val="2"/>
                    </a:ext>
                  </a:extLst>
                </a:gridCol>
                <a:gridCol w="561692">
                  <a:extLst>
                    <a:ext uri="{9D8B030D-6E8A-4147-A177-3AD203B41FA5}">
                      <a16:colId val="3"/>
                    </a:ext>
                  </a:extLst>
                </a:gridCol>
                <a:gridCol w="548507">
                  <a:extLst>
                    <a:ext uri="{9D8B030D-6E8A-4147-A177-3AD203B41FA5}">
                      <a16:colId val="4"/>
                    </a:ext>
                  </a:extLst>
                </a:gridCol>
                <a:gridCol w="653989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误差来源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测量方式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×2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×3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×4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带宽损失 E_null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理想低通后重测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40.65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34.55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31.27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传感器噪声 E_noise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小波系数中位数 σ̂≈0.90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49.05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49.05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49.05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前两项合成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带宽叠加噪声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40.1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31.2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再叠加 0.3 px 配准残差 E_align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亚像素平移后重测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35.7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29.5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配准更差：0.5 px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同上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33.4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91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本文实测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本协议 100 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34.41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31.13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29.51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47" name=""/>
          <p:cNvSpPr/>
          <p:nvPr/>
        </p:nvSpPr>
        <p:spPr>
          <a:xfrm rot="0" flipH="0" flipV="0">
            <a:off x="7048500" y="1790700"/>
            <a:ext cx="4476750" cy="942975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172325" y="1914525"/>
            <a:ext cx="422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D9534F"/>
                </a:solidFill>
                <a:latin typeface="Microsoft YaHei"/>
                <a:ea typeface="Microsoft YaHei"/>
              </a:rPr>
              <a:t>主要限制项</a:t>
            </a:r>
            <a:r>
              <a:rPr lang="en-US" sz="97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· ×2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172325" y="2114550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Microsoft YaHei"/>
                <a:ea typeface="Microsoft YaHei"/>
              </a:rPr>
              <a:t>配准残差，而非带宽或噪声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172325" y="2324100"/>
            <a:ext cx="4229100" cy="285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噪声对应上限为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49.05 dB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，远高于带宽项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40.65 dB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，说明噪声几乎不构成限制。配准残差把上限从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40.1 dB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压低到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35.7 dB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048500" y="2828925"/>
            <a:ext cx="4476750" cy="981075"/>
          </a:xfrm>
          <a:prstGeom prst="roundRect">
            <a:avLst>
              <a:gd name="adj" fmla="val 3883"/>
            </a:avLst>
          </a:prstGeom>
          <a:solidFill>
            <a:srgbClr val="F0F5FC"/>
          </a:solidFill>
          <a:ln w="12700">
            <a:solidFill>
              <a:srgbClr val="C7D9F2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172325" y="2952750"/>
            <a:ext cx="422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×2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可达区间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172325" y="3152775"/>
            <a:ext cx="422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34.4 – 35.7 dB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172325" y="354330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本文的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34.41 dB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位于该区间内，剩余误差主要来自上述物理因素。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7048500" y="3933825"/>
            <a:ext cx="4476750" cy="79057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7048500" y="3933825"/>
            <a:ext cx="4476750" cy="790575"/>
          </a:xfrm>
          <a:custGeom>
            <a:pathLst>
              <a:path w="470" h="83">
                <a:moveTo>
                  <a:pt x="466" y="0"/>
                </a:moveTo>
                <a:cubicBezTo>
                  <a:pt x="468" y="0"/>
                  <a:pt x="470" y="2"/>
                  <a:pt x="470" y="4"/>
                </a:cubicBezTo>
                <a:cubicBezTo>
                  <a:pt x="470" y="3"/>
                  <a:pt x="469" y="3"/>
                  <a:pt x="469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466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172325" y="4057650"/>
            <a:ext cx="422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×3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×4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情况不同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172325" y="424815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×3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实测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31.13 dB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，上限约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34.4 dB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，相差约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 dB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，仍有提升空间。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172325" y="44291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×4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实测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29.51 dB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，上限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31.2 dB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，已接近上限。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66750" y="6391275"/>
            <a:ext cx="10858500" cy="266700"/>
          </a:xfrm>
          <a:custGeom>
            <a:pathLst>
              <a:path w="1140" h="28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66750" y="6505575"/>
            <a:ext cx="440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测量实现：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diffusion/oracle.py ·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不含任何训练模型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直接对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张真值做信号分析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134725" y="65055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3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30, left: 70, right: 70, flexDirection: 'column', gap: 5 }}&gt;&#10;    &lt;Text style={{ fontSize: 13, color: '#1E4FA8', letterSpacing: 4, fontWeight: 'bold' }}&gt;02 理论 · 超分问题的数学形式&lt;/Text&gt;&#10;    &lt;Text style={{ fontSize: 29, color: '#0E3F8C', fontWeight: 'bold' }}&gt;超分是一个病态逆问题：解不唯一，且高频信息已被破坏&lt;/Text&gt;&#10;    &lt;Text style={{ fontSize: 13, color: '#4A5568' }}&gt;本页给出问题的数学刻画，以及由此得到的三个基本结论&lt;/Text&gt;&#10;  &lt;/Box&gt;&#10;&#10;  &lt;Box style={{ position: 'absolute', top: 118, left: 70, right: 70, height: 70, background: '#0E3F8C', borderRadius: 4, flexDirection: 'row', alignItems: 'center', gap: 24, padding: 14 }}&gt;&#10;    &lt;Math latex='y_{\mathrm{LR}} \;=\; \mathcal{D}\big(x_{\mathrm{HR}}\big) \;=\; (\,x_{\mathrm{HR}} * k\,)\!\downarrow_{s} \;+\; n' width={560} display={true} color='#FFFFFF' /&gt;&#10;    &lt;Text style={{ fontSize: 13, color: '#D9E6F7' }}&gt;退化算子 D 由模糊核 k、下采样倍率 s、噪声 n 组成&lt;/Text&gt;&#10;  &lt;/Box&gt;&#10;&#10;  &lt;Box style={{ position: 'absolute', top: 204, left: 70, width: 660, height: 330, background: '#F7F9FC', border: '1px solid #D6DCE5', borderRadius: 4, padding: 15, flexDirection: 'column', gap: 9 }}&gt;&#10;    &lt;Text style={{ fontSize: 15, color: '#0E3F8C', fontWeight: 'bold' }}&gt;一、解不唯一：一个 LR 对应无穷多个 HR&lt;/Text&gt;&#10;    &lt;Text style={{ fontSize: 12, color: '#1A2230' }}&gt;下采样是多对一映射。凡被该过程滤除的分量（记其零空间为 N(D)），都能任意叠加到 x 上而不改变 y：&lt;/Text&gt;&#10;&#10;    &lt;Box style={{ background: '#FFFFFF', padding: 10, borderLeft: '4px solid #0E3F8C', borderRadius: 3 }}&gt;&#10;      &lt;Math latex='\mathcal{D}(x + \delta) = \mathcal{D}(x), \qquad \forall \delta \in \mathcal{N}(\mathcal{D})' width={470} display={true} color='#0E3F8C' /&gt;&#10;    &lt;/Box&gt;&#10;&#10;    &lt;Text style={{ fontSize: 12, color: '#1A2230' }}&gt;因此重建必须借助先验 P(x) 从无穷多解中选取一个，这是一个最大后验问题：&lt;/Text&gt;&#10;&#10;    &lt;Box style={{ background: '#FFFFFF', padding: 10, borderLeft: '4px solid #0E3F8C', borderRadius: 3 }}&gt;&#10;      &lt;Math latex='\hat{x} \;=\; \arg\max_{x} \; \log P(y \mid x) \;+\; \log P(x)' width={500} display={true} color='#0E3F8C' /&gt;&#10;    &lt;/Box&gt;&#10;&#10;    &lt;Text style={{ fontSize: 12, color: '#1A2230' }}&gt;在真实超分中 P(x) 不由解析先验给出，而是由训练样本隐式学习。因此数据量直接决定先验质量，这也解释了后文生成式方法的性能受数据规模限制。&lt;/Text&gt;&#10;  &lt;/Box&gt;&#10;&#10;  &lt;Box style={{ position: 'absolute', top: 204, right: 70, width: 470, flexDirection: 'column', gap: 12 }}&gt;&#10;&#10;    &lt;Box style={{ background: '#FFFFFF', border: '1px solid #D6DCE5', borderLeft: '5px solid #D9534F', borderRadius: 4, padding: 14, flexDirection: 'column', gap: 6 }}&gt;&#10;      &lt;Text style={{ fontSize: 15, color: '#0E3F8C', fontWeight: 'bold' }}&gt;二、高频被物理性破坏&lt;/Text&gt;&#10;      &lt;Text style={{ fontSize: 12, color: '#1A2230' }}&gt;按采样定理，×s 下采样后输入只保留低于截止频率的成分，更高的频率无法由输入恢复，只能由先验推测。可恢复频带上界为：&lt;/Text&gt;&#10;      &lt;Box style={{ background: '#F0F5FC', padding: 9, borderRadius: 3, alignItems: 'center' }}&gt;&#10;        &lt;Math latex='f_{\text{rec}} \;\leq\; \frac{f_{s}}{2s}' width={160} display={true} color='#0E3F8C' /&gt;&#10;      &lt;/Box&gt;&#10;      &lt;Text style={{ fontSize: 12, color: '#1A2230' }}&gt;这解释了放大倍率越高、PSNR 绝对值越低的现象。&lt;/Text&gt;&#10;    &lt;/Box&gt;&#10;&#10;    &lt;Box style={{ background: '#FFFFFF', border: '1px solid #D6DCE5', borderLeft: '5px solid #FFC107', borderRadius: 4, padding: 14, flexDirection: 'column', gap: 6 }}&gt;&#10;      &lt;Text style={{ fontSize: 15, color: '#0E3F8C', fontWeight: 'bold' }}&gt;三、最优解是条件均值&lt;/Text&gt;&#10;      &lt;Text style={{ fontSize: 12, color: '#1A2230' }}&gt;若以均方误差为准则，最优估计为给定输入下的条件期望：&lt;/Text&gt;&#10;      &lt;Box style={{ alignItems: 'center' }}&gt;&#10;        &lt;Math latex='\hat{x}^{\star} \;=\; \mathbb{E}\,[\,x \mid y\,]' width={150} display={true} color='#0E3F8C' /&gt;&#10;      &lt;/Box&gt;&#10;      &lt;Text style={{ fontSize: 12, color: '#1A2230' }}&gt;它是所有可能解的概率平均。平均会降低方差，使纹理与边缘对比度减弱 —— 这是以 PSNR 为目标的方法在视觉上偏平滑的数学原因。&lt;/Text&gt;&#10;    &lt;/Box&gt;&#10;  &lt;/Box&gt;&#10;&#10;  &lt;Box style={{ position: 'absolute', bottom: 56, left: 70, right: 70, padding: 14, background: '#FFF4E6', borderLeft: '4px solid #FFC107', borderRadius: 4 }}&gt;&#10;    &lt;Text style={{ fontSize: 14, color: '#0E3F8C', fontWeight: 'bold' }}&gt;由以上三点可知：提升 PSNR 与提升视觉锐度在数学上相互冲突（Blau &amp;amp; Michaeli, CVPR 2018）。本文的做法是在保真度上做到接近上限，再单独讨论感知质量。&lt;/Text&gt;&#10;  &lt;/Box&gt;&#10;&#10;  &lt;Box style={{ position: 'absolute', bottom: 24, left: 70, right: 70, flexDirection: 'row', justifyContent: 'space-between', borderTop: '1px solid #D6DCE5', paddingTop: 12 }}&gt;&#10;    &lt;Text style={{ fontSize: 12.5, color: '#8B97A8' }}&gt;参考文献：Blau &amp;amp; Michaeli, The Perception-Distortion Tradeoff, CVPR 2018&lt;/Text&gt;&#10;    &lt;Text style={{ fontSize: 12, color: '#4A5568', fontWeight: 'bold' }}&gt;05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66750" y="2857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理论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超分问题的数学形式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66750" y="485775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E3F8C"/>
                </a:solidFill>
                <a:latin typeface="Microsoft YaHei"/>
                <a:ea typeface="Microsoft YaHei"/>
              </a:rPr>
              <a:t>超分是一个病态逆问题：解不唯一，且高频信息已被破坏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66750" y="866775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本页给出问题的数学刻画，以及由此得到的三个基本结论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66750" y="1123950"/>
            <a:ext cx="10858500" cy="666750"/>
          </a:xfrm>
          <a:prstGeom prst="roundRect">
            <a:avLst>
              <a:gd name="adj" fmla="val 5714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70" name="" descr="y_{\mathrm{LR}} \;=\; \mathcal{D}\big(x_{\mathrm{HR}}\big) \;=\; (\,x_{\mathrm{HR}} * k\,)\!\downarrow_{s} \;+\; 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257300"/>
            <a:ext cx="5334000" cy="400050"/>
          </a:xfrm>
          <a:prstGeom prst="rect"/>
          <a:ln/>
        </p:spPr>
      </p:pic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362700" y="1381125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D9E6F7"/>
                </a:solidFill>
                <a:latin typeface="Microsoft YaHei"/>
                <a:ea typeface="Microsoft YaHei"/>
              </a:rPr>
              <a:t>退化算子</a:t>
            </a: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 xml:space="preserve"> D </a:t>
            </a:r>
            <a:r>
              <a:rPr lang="zh-CN" sz="975">
                <a:solidFill>
                  <a:srgbClr val="D9E6F7"/>
                </a:solidFill>
                <a:latin typeface="Microsoft YaHei"/>
                <a:ea typeface="Microsoft YaHei"/>
              </a:rPr>
              <a:t>由模糊核</a:t>
            </a: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975">
                <a:solidFill>
                  <a:srgbClr val="D9E6F7"/>
                </a:solidFill>
                <a:latin typeface="Microsoft YaHei"/>
                <a:ea typeface="Microsoft YaHei"/>
              </a:rPr>
              <a:t>、下采样倍率</a:t>
            </a: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 xml:space="preserve"> s</a:t>
            </a:r>
            <a:r>
              <a:rPr lang="zh-CN" sz="975">
                <a:solidFill>
                  <a:srgbClr val="D9E6F7"/>
                </a:solidFill>
                <a:latin typeface="Microsoft YaHei"/>
                <a:ea typeface="Microsoft YaHei"/>
              </a:rPr>
              <a:t>、噪声</a:t>
            </a:r>
            <a:r>
              <a:rPr lang="en-US" sz="975">
                <a:solidFill>
                  <a:srgbClr val="D9E6F7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975">
                <a:solidFill>
                  <a:srgbClr val="D9E6F7"/>
                </a:solidFill>
                <a:latin typeface="Microsoft YaHei"/>
                <a:ea typeface="Microsoft YaHei"/>
              </a:rPr>
              <a:t>组成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66750" y="1943100"/>
            <a:ext cx="6286500" cy="3143250"/>
          </a:xfrm>
          <a:prstGeom prst="roundRect">
            <a:avLst>
              <a:gd name="adj" fmla="val 121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09625" y="20859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一、解不唯一：一个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LR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对应无穷多个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HR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9625" y="2343150"/>
            <a:ext cx="6000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下采样是多对一映射。凡被该过程滤除的分量（记其零空间为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N(D)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），都能任意叠加到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x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上而不改变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y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847725" y="2571750"/>
            <a:ext cx="6000750" cy="5143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847725" y="2571750"/>
            <a:ext cx="6000750" cy="514350"/>
          </a:xfrm>
          <a:custGeom>
            <a:pathLst>
              <a:path w="630" h="54">
                <a:moveTo>
                  <a:pt x="4" y="54"/>
                </a:moveTo>
                <a:cubicBezTo>
                  <a:pt x="3" y="54"/>
                  <a:pt x="2" y="54"/>
                  <a:pt x="1" y="53"/>
                </a:cubicBezTo>
                <a:cubicBezTo>
                  <a:pt x="0" y="52"/>
                  <a:pt x="0" y="52"/>
                  <a:pt x="0" y="5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77" name="" descr="\mathcal{D}(x + \delta) = \mathcal{D}(x), \qquad \forall \delta \in \mathcal{N}(\mathcal{D}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2975" y="2667000"/>
            <a:ext cx="4476750" cy="323850"/>
          </a:xfrm>
          <a:prstGeom prst="rect"/>
          <a:ln/>
        </p:spPr>
      </p:pic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09625" y="3171825"/>
            <a:ext cx="6000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因此重建必须借助先验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P(x)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从无穷多解中选取一个，这是一个最大后验问题：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47725" y="3400425"/>
            <a:ext cx="6000750" cy="638175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847725" y="3400425"/>
            <a:ext cx="6000750" cy="638175"/>
          </a:xfrm>
          <a:custGeom>
            <a:pathLst>
              <a:path w="630" h="67">
                <a:moveTo>
                  <a:pt x="4" y="67"/>
                </a:moveTo>
                <a:cubicBezTo>
                  <a:pt x="3" y="67"/>
                  <a:pt x="2" y="67"/>
                  <a:pt x="1" y="66"/>
                </a:cubicBezTo>
                <a:cubicBezTo>
                  <a:pt x="0" y="65"/>
                  <a:pt x="0" y="65"/>
                  <a:pt x="0" y="6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81" name="" descr="\hat{x} \;=\; \arg\max_{x} \; \log P(y \mid x) \;+\; \log P(x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42975" y="3495675"/>
            <a:ext cx="4762500" cy="447675"/>
          </a:xfrm>
          <a:prstGeom prst="rect"/>
          <a:ln/>
        </p:spPr>
      </p:pic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09625" y="4124325"/>
            <a:ext cx="60007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在真实超分中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P(x)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不由解析先验给出，而是由训练样本隐式学习。因此数据量直接决定先验质量，这也解释了后文生成式方法的性能受数据规模限制。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096125" y="1943100"/>
            <a:ext cx="4476750" cy="18669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7096125" y="1943100"/>
            <a:ext cx="4476750" cy="1866900"/>
          </a:xfrm>
          <a:custGeom>
            <a:pathLst>
              <a:path w="470" h="196">
                <a:moveTo>
                  <a:pt x="5" y="196"/>
                </a:moveTo>
                <a:cubicBezTo>
                  <a:pt x="4" y="196"/>
                  <a:pt x="3" y="196"/>
                  <a:pt x="2" y="195"/>
                </a:cubicBezTo>
                <a:cubicBezTo>
                  <a:pt x="1" y="195"/>
                  <a:pt x="0" y="194"/>
                  <a:pt x="0" y="192"/>
                </a:cubicBezTo>
                <a:lnTo>
                  <a:pt x="0" y="192"/>
                </a:lnTo>
                <a:lnTo>
                  <a:pt x="0" y="19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229475" y="2076450"/>
            <a:ext cx="416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二、高频被物理性破坏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229475" y="2305050"/>
            <a:ext cx="41624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按采样定理，×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s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下采样后输入只保留低于截止频率的成分，更高的频率无法由输入恢复，只能由先验推测。可恢复频带上界为：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7229475" y="2638425"/>
            <a:ext cx="4162425" cy="838200"/>
          </a:xfrm>
          <a:prstGeom prst="roundRect">
            <a:avLst>
              <a:gd name="adj" fmla="val 3409"/>
            </a:avLst>
          </a:prstGeom>
          <a:solidFill>
            <a:srgbClr val="F0F5FC"/>
          </a:solidFill>
          <a:ln/>
        </p:spPr>
        <p:txBody>
          <a:bodyPr/>
          <a:p/>
        </p:txBody>
      </p:sp>
      <p:pic>
        <p:nvPicPr>
          <p:cNvPr id="288" name="" descr="f_{\text{rec}} \;\leq\; \frac{f_{s}}{2s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553450" y="2724150"/>
            <a:ext cx="1524000" cy="666750"/>
          </a:xfrm>
          <a:prstGeom prst="rect"/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229475" y="3533775"/>
            <a:ext cx="416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这解释了放大倍率越高、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PSNR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绝对值越低的现象。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096125" y="3924300"/>
            <a:ext cx="4476750" cy="1266825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7096125" y="3924300"/>
            <a:ext cx="4476750" cy="1266825"/>
          </a:xfrm>
          <a:custGeom>
            <a:pathLst>
              <a:path w="470" h="133">
                <a:moveTo>
                  <a:pt x="5" y="133"/>
                </a:moveTo>
                <a:cubicBezTo>
                  <a:pt x="4" y="133"/>
                  <a:pt x="3" y="133"/>
                  <a:pt x="2" y="132"/>
                </a:cubicBezTo>
                <a:cubicBezTo>
                  <a:pt x="1" y="132"/>
                  <a:pt x="0" y="131"/>
                  <a:pt x="0" y="129"/>
                </a:cubicBezTo>
                <a:lnTo>
                  <a:pt x="0" y="129"/>
                </a:lnTo>
                <a:lnTo>
                  <a:pt x="0" y="12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229475" y="4057650"/>
            <a:ext cx="4162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三、最优解是条件均值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229475" y="4286250"/>
            <a:ext cx="416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若以均方误差为准则，最优估计为给定输入下的条件期望：</a:t>
            </a:r>
            <a:endParaRPr/>
          </a:p>
        </p:txBody>
      </p:sp>
      <p:pic>
        <p:nvPicPr>
          <p:cNvPr id="294" name="" descr="\hat{x}^{\star} \;=\; \mathbb{E}\,[\,x \mid y\,]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601075" y="4486275"/>
            <a:ext cx="1428750" cy="238125"/>
          </a:xfrm>
          <a:prstGeom prst="rect"/>
          <a:ln/>
        </p:spPr>
      </p:pic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229475" y="4781550"/>
            <a:ext cx="416242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它是所有可能解的概率平均。平均会降低方差，使纹理与边缘对比度减弱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这是以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为目标的方法在视觉上偏平滑的数学原因。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04850" y="5895975"/>
            <a:ext cx="10858500" cy="428625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04850" y="5895975"/>
            <a:ext cx="10858500" cy="428625"/>
          </a:xfrm>
          <a:custGeom>
            <a:pathLst>
              <a:path w="1140" h="45">
                <a:moveTo>
                  <a:pt x="4" y="45"/>
                </a:move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38200" y="6029325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由以上三点可知：提升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与提升视觉锐度在数学上相互冲突（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Blau &amp; Michaeli, CVPR 2018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）。本文的做法是在保真度上做到接近上限，再单独讨论感知质量。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66750" y="6362700"/>
            <a:ext cx="10858500" cy="276225"/>
          </a:xfrm>
          <a:custGeom>
            <a:pathLst>
              <a:path w="1140" h="29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66750" y="6486525"/>
            <a:ext cx="4219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参考文献：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Blau &amp; Michaeli, The Perception-Distortion Tradeoff, CVPR 2018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13472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2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34, left: 70, right: 70, flexDirection: 'column', gap: 6 }}&gt;&#10;    &lt;Text style={{ fontSize: 13, color: '#1E4FA8', letterSpacing: 4, fontWeight: 'bold' }}&gt;02 框架 · 我们对问题的判断&lt;/Text&gt;&#10;    &lt;Text style={{ fontSize: 30, color: '#0E3F8C', fontWeight: 'bold' }}&gt;&quot;把误差降到最小&quot;的最优解，会主动把细节抹平&lt;/Text&gt;&#10;    &lt;Text style={{ fontSize: 14, color: '#4A5568' }}&gt;这是损失函数本身造成的，不是模型能力不够&lt;/Text&gt;&#10;  &lt;/Box&gt;&#10;&#10;  &lt;Box style={{ position: 'absolute', top: 122, left: 70, right: 70, height: 76, background: '#0E3F8C', borderRadius: 4, flexDirection: 'row', alignItems: 'center', gap: 20, padding: 14 }}&gt;&#10;    &lt;Math latex='\hat{y}^{\star}(x) \;=\; \arg\min_{\hat{y}}\, \mathbb{E}\big[\|\hat{y}-y\|_2^2\big] \;=\; \mathbb{E}[\,y \mid x\,]' width={700} display={true} color='#FFFFFF' /&gt;&#10;    &lt;Text style={{ fontSize: 14, color: '#FFC107', fontWeight: 'bold' }}&gt;最优输出 ＝ 条件均值&lt;/Text&gt;&#10;  &lt;/Box&gt;&#10;&#10;  {/* 左：推论 */}&#10;  &lt;Box style={{ position: 'absolute', top: 214, left: 70, width: 620, height: 250, background: '#F7F9FC', border: '1px solid #D6DCE5', borderRadius: 4, padding: 16, flexDirection: 'column', gap: 10 }}&gt;&#10;    &lt;Text style={{ fontSize: 16, color: '#0E3F8C', fontWeight: 'bold' }}&gt;推论：一步到位的两难&lt;/Text&gt;&#10;    &lt;Box style={{ flexDirection: 'column', gap: 8 }}&gt;&#10;      &lt;Box style={{ background: '#FFFFFF', padding: 10, borderLeft: '4px solid #0E3F8C', borderRadius: 3 }}&gt;&#10;        &lt;Text style={{ fontSize: 13, color: '#1A2230' }}&gt;同一个低分辨率输入，可以对应多种高频细节（纹理的走向、边缘的锐度），它们在像素误差上同样合理。&lt;/Text&gt;&#10;      &lt;/Box&gt;&#10;      &lt;Box style={{ background: '#FFFFFF', padding: 10, borderLeft: '4px solid #D9534F', borderRadius: 3 }}&gt;&#10;        &lt;Text style={{ fontSize: 13, color: '#1A2230' }}&gt;最小化像素误差的解是这些可能性的&lt;span style={{ fontWeight: 'bold', color: '#D9534F' }}&gt;平均&lt;/span&gt;，其结果是纹理对比度降低、边缘变钝。&lt;/Text&gt;&#10;      &lt;/Box&gt;&#10;      &lt;Box style={{ background: '#FFF4E6', padding: 10, borderLeft: '4px solid #FFC107', borderRadius: 3 }}&gt;&#10;        &lt;Text style={{ fontSize: 13, color: '#1A2230' }}&gt;即：&lt;span style={{ fontWeight: 'bold' }}&gt;过度平滑来自像素误差目标本身，而非训练不充分&lt;/span&gt;。增大模型或延长训练都无法改变这一性质。&lt;/Text&gt;&#10;      &lt;/Box&gt;&#10;    &lt;/Box&gt;&#10;  &lt;/Box&gt;&#10;&#10;  {/* 右：两个对策 */}&#10;  &lt;Box style={{ position: 'absolute', top: 214, right: 70, width: 460, flexDirection: 'column', gap: 12 }}&gt;&#10;    &lt;Box style={{ background: '#FFFFFF', border: '1px solid #D6DCE5', borderTop: '4px solid #0E3F8C', borderRadius: 4, padding: 14, flexDirection: 'column', gap: 6 }}&gt;&#10;      &lt;Text style={{ fontSize: 15, color: '#0E3F8C', fontWeight: 'bold' }}&gt;对策一 · 在频域上分别约束误差&lt;/Text&gt;&#10;      &lt;Text style={{ fontSize: 12, color: '#1A2230' }}&gt;用正交小波把图像分解为低频子带与三个方向的高频子带。正交变换保持能量守恒，因此可对高频子带单独加权，而不损失低频保真度。&lt;/Text&gt;&#10;      &lt;Text style={{ fontSize: 12, color: '#0E3F8C', fontWeight: 'bold' }}&gt;代价：仅在训练时增加一项损失，推理无开销&lt;/Text&gt;&#10;    &lt;/Box&gt;&#10;&#10;    &lt;Box style={{ background: '#FFFFFF', border: '1px solid #D6DCE5', borderTop: '4px solid #0E3F8C', borderRadius: 4, padding: 14, flexDirection: 'column', gap: 6 }}&gt;&#10;      &lt;Text style={{ fontSize: 15, color: '#0E3F8C', fontWeight: 'bold' }}&gt;对策二 · 消除子带对平移的敏感性&lt;/Text&gt;&#10;      &lt;Text style={{ fontSize: 12, color: '#1A2230' }}&gt;离散小波不具平移不变性：同一纹理平移一个像素，子带系数即发生变化。对图像做多次循环平移，分别计算损失后取平均。&lt;/Text&gt;&#10;      &lt;Text style={{ fontSize: 12, color: '#0E3F8C', fontWeight: 'bold' }}&gt;代价：仅在训练时增加计算，是复小波方案的低成本替代&lt;/Text&gt;&#10;    &lt;/Box&gt;&#10;  &lt;/Box&gt;&#10;&#10;  {/* 演进条 */}&#10;  &lt;Box style={{ position: 'absolute', top: 480, left: 70, right: 70, flexDirection: 'row', alignItems: 'center', gap: 10 }}&gt;&#10;    &lt;Box style={{ flex: 1, background: '#F7F9FC', padding: 10, borderRadius: 4, flexDirection: 'column', alignItems: 'center', border: '1px solid #D6DCE5' }}&gt;&#10;      &lt;Text style={{ fontSize: 22, color: '#4A5568', fontWeight: 'bold' }}&gt;34.11&lt;/Text&gt;&#10;      &lt;Text style={{ fontSize: 12.5, color: '#4A5568' }}&gt;基线&lt;/Text&gt;&#10;    &lt;/Box&gt;&#10;    &lt;Text style={{ fontSize: 20, color: '#0E3F8C', fontWeight: 'bold' }}&gt;→&lt;/Text&gt;&#10;    &lt;Box style={{ flex: 1, background: '#F7F9FC', padding: 10, borderRadius: 4, flexDirection: 'column', alignItems: 'center', border: '1px solid #D6DCE5' }}&gt;&#10;      &lt;Text style={{ fontSize: 22, color: '#0E3F8C', fontWeight: 'bold' }}&gt;34.24&lt;/Text&gt;&#10;      &lt;Text style={{ fontSize: 12.5, color: '#4A5568' }}&gt;+ 高频约束&lt;/Text&gt;&#10;    &lt;/Box&gt;&#10;    &lt;Text style={{ fontSize: 20, color: '#0E3F8C', fontWeight: 'bold' }}&gt;→&lt;/Text&gt;&#10;    &lt;Box style={{ flex: 1, background: '#F7F9FC', padding: 10, borderRadius: 4, flexDirection: 'column', alignItems: 'center', border: '1px solid #D6DCE5' }}&gt;&#10;      &lt;Text style={{ fontSize: 22, color: '#0E3F8C', fontWeight: 'bold' }}&gt;34.31&lt;/Text&gt;&#10;      &lt;Text style={{ fontSize: 12.5, color: '#4A5568' }}&gt;+ 平移平均&lt;/Text&gt;&#10;    &lt;/Box&gt;&#10;    &lt;Text style={{ fontSize: 20, color: '#0E3F8C', fontWeight: 'bold' }}&gt;→&lt;/Text&gt;&#10;    &lt;Box style={{ flex: 1, background: '#0E3F8C', padding: 10, borderRadius: 4, flexDirection: 'column', alignItems: 'center' }}&gt;&#10;      &lt;Text style={{ fontSize: 22, color: '#FFC107', fontWeight: 'bold' }}&gt;34.41&lt;/Text&gt;&#10;      &lt;Text style={{ fontSize: 12.5, color: '#D9E6F7' }}&gt;完整配方&lt;/Text&gt;&#10;    &lt;/Box&gt;&#10;  &lt;/Box&gt;&#10;&#10;  &lt;Box style={{ position: 'absolute', bottom: 56, left: 70, right: 70, padding: 14, background: '#FFF4E6', borderLeft: '4px solid #FFC107', borderRadius: 4 }}&gt;&#10;    &lt;Text style={{ fontSize: 14, color: '#0E3F8C', fontWeight: 'bold' }}&gt;对照实验：把高频拆成独立分支的网络（双路小波 U-Net）得 33.85 dB，低于仅增加损失项的 34.24 dB。显式拆分频带会损失跨频带信息，因此采用损失约束而非结构改动。&lt;/Text&gt;&#10;  &lt;/Box&gt;&#10;&#10;  &lt;Box style={{ position: 'absolute', bottom: 24, left: 70, right: 70, flexDirection: 'row', justifyContent: 'space-between', borderTop: '1px solid #D6DCE5', paddingTop: 12 }}&gt;&#10;    &lt;Text style={{ fontSize: 12, color: '#8B97A8' }}&gt;参考：Parseval 能量守恒 · 条件均值为 MSE 最优解&lt;/Text&gt;&#10;    &lt;Text style={{ fontSize: 12, color: '#4A5568', fontWeight: 'bold' }}&gt;06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66750" y="3238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框架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我们对问题的判断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66750" y="533400"/>
            <a:ext cx="1085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把误差降到最小</a:t>
            </a: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的最优解，会主动把细节抹平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66750" y="933450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这是损失函数本身造成的，不是模型能力不够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66750" y="1162050"/>
            <a:ext cx="10858500" cy="723900"/>
          </a:xfrm>
          <a:prstGeom prst="roundRect">
            <a:avLst>
              <a:gd name="adj" fmla="val 5263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09" name="" descr="\hat{y}^{\star}(x) \;=\; \arg\min_{\hat{y}}\, \mathbb{E}\big[\|\hat{y}-y\|_2^2\big] \;=\; \mathbb{E}[\,y \mid x\,]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181100"/>
            <a:ext cx="6667500" cy="685800"/>
          </a:xfrm>
          <a:prstGeom prst="rect"/>
          <a:ln/>
        </p:spPr>
      </p:pic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658100" y="1447800"/>
            <a:ext cx="127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C107"/>
                </a:solidFill>
                <a:latin typeface="Microsoft YaHei"/>
                <a:ea typeface="Microsoft YaHei"/>
              </a:rPr>
              <a:t>最优输出</a:t>
            </a:r>
            <a:r>
              <a:rPr lang="en-US" sz="10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b="1">
                <a:solidFill>
                  <a:srgbClr val="FFC107"/>
                </a:solidFill>
                <a:latin typeface="Microsoft YaHei"/>
                <a:ea typeface="Microsoft YaHei"/>
              </a:rPr>
              <a:t>＝</a:t>
            </a:r>
            <a:r>
              <a:rPr lang="en-US" sz="105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 b="1">
                <a:solidFill>
                  <a:srgbClr val="FFC107"/>
                </a:solidFill>
                <a:latin typeface="Microsoft YaHei"/>
                <a:ea typeface="Microsoft YaHei"/>
              </a:rPr>
              <a:t>条件均值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66750" y="2038350"/>
            <a:ext cx="5905500" cy="2381250"/>
          </a:xfrm>
          <a:prstGeom prst="round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9150" y="2190750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推论：一步到位的两难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857250" y="2476500"/>
            <a:ext cx="560070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857250" y="2476500"/>
            <a:ext cx="5600700" cy="495300"/>
          </a:xfrm>
          <a:custGeom>
            <a:pathLst>
              <a:path w="588" h="52">
                <a:moveTo>
                  <a:pt x="4" y="52"/>
                </a:moveTo>
                <a:cubicBezTo>
                  <a:pt x="3" y="52"/>
                  <a:pt x="2" y="52"/>
                  <a:pt x="1" y="51"/>
                </a:cubicBezTo>
                <a:cubicBezTo>
                  <a:pt x="0" y="50"/>
                  <a:pt x="0" y="50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52500" y="2571750"/>
            <a:ext cx="53721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同一个低分辨率输入，可以对应多种高频细节（纹理的走向、边缘的锐度），它们在像素误差上同样合理。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57250" y="3048000"/>
            <a:ext cx="5600700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857250" y="3048000"/>
            <a:ext cx="5600700" cy="342900"/>
          </a:xfrm>
          <a:custGeom>
            <a:pathLst>
              <a:path w="588" h="36">
                <a:moveTo>
                  <a:pt x="4" y="36"/>
                </a:moveTo>
                <a:cubicBezTo>
                  <a:pt x="3" y="36"/>
                  <a:pt x="2" y="36"/>
                  <a:pt x="1" y="35"/>
                </a:cubicBezTo>
                <a:cubicBezTo>
                  <a:pt x="0" y="34"/>
                  <a:pt x="0" y="34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52500" y="3143250"/>
            <a:ext cx="537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最小化像素误差的解是这些可能性的</a:t>
            </a:r>
            <a:r>
              <a:rPr lang="zh-CN" sz="975" b="1">
                <a:solidFill>
                  <a:srgbClr val="D9534F"/>
                </a:solidFill>
                <a:latin typeface="Microsoft YaHei"/>
                <a:ea typeface="Microsoft YaHei"/>
              </a:rPr>
              <a:t>平均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，其结果是纹理对比度降低、边缘变钝。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857250" y="3467100"/>
            <a:ext cx="5600700" cy="495300"/>
          </a:xfrm>
          <a:prstGeom prst="roundRect">
            <a:avLst>
              <a:gd name="adj" fmla="val 576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857250" y="3467100"/>
            <a:ext cx="5600700" cy="495300"/>
          </a:xfrm>
          <a:custGeom>
            <a:pathLst>
              <a:path w="588" h="52">
                <a:moveTo>
                  <a:pt x="4" y="52"/>
                </a:moveTo>
                <a:cubicBezTo>
                  <a:pt x="3" y="52"/>
                  <a:pt x="2" y="52"/>
                  <a:pt x="1" y="51"/>
                </a:cubicBezTo>
                <a:cubicBezTo>
                  <a:pt x="0" y="50"/>
                  <a:pt x="0" y="50"/>
                  <a:pt x="0" y="4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52500" y="3562350"/>
            <a:ext cx="53721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即：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过度平滑来自像素误差目标本身，而非训练不充分</a:t>
            </a:r>
            <a:r>
              <a:rPr lang="zh-CN" sz="975">
                <a:solidFill>
                  <a:srgbClr val="1A2230"/>
                </a:solidFill>
                <a:latin typeface="Microsoft YaHei"/>
                <a:ea typeface="Microsoft YaHei"/>
              </a:rPr>
              <a:t>。增大模型或延长训练都无法改变这一性质。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7143750" y="2076450"/>
            <a:ext cx="4381500" cy="10096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7143750" y="2076450"/>
            <a:ext cx="4381500" cy="1009650"/>
          </a:xfrm>
          <a:custGeom>
            <a:pathLst>
              <a:path w="460" h="106">
                <a:moveTo>
                  <a:pt x="456" y="0"/>
                </a:moveTo>
                <a:cubicBezTo>
                  <a:pt x="458" y="0"/>
                  <a:pt x="460" y="2"/>
                  <a:pt x="46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56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277100" y="220980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对策一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在频域上分别约束误差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277100" y="2438400"/>
            <a:ext cx="41148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用正交小波把图像分解为低频子带与三个方向的高频子带。正交变换保持能量守恒，因此可对高频子带单独加权，而不损失低频保真度。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277100" y="277177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E3F8C"/>
                </a:solidFill>
                <a:latin typeface="Microsoft YaHei"/>
                <a:ea typeface="Microsoft YaHei"/>
              </a:rPr>
              <a:t>代价：仅在训练时增加一项损失，推理无开销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7143750" y="3200400"/>
            <a:ext cx="4381500" cy="10096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7143750" y="3200400"/>
            <a:ext cx="4381500" cy="1009650"/>
          </a:xfrm>
          <a:custGeom>
            <a:pathLst>
              <a:path w="460" h="106">
                <a:moveTo>
                  <a:pt x="456" y="0"/>
                </a:moveTo>
                <a:cubicBezTo>
                  <a:pt x="458" y="0"/>
                  <a:pt x="460" y="2"/>
                  <a:pt x="46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56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277100" y="3333750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对策二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消除子带对平移的敏感性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277100" y="3562350"/>
            <a:ext cx="41148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离散小波不具平移不变性：同一纹理平移一个像素，子带系数即发生变化。对图像做多次循环平移，分别计算损失后取平均。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277100" y="3895725"/>
            <a:ext cx="4114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E3F8C"/>
                </a:solidFill>
                <a:latin typeface="Microsoft YaHei"/>
                <a:ea typeface="Microsoft YaHei"/>
              </a:rPr>
              <a:t>代价：仅在训练时增加计算，是复小波方案的低成本替代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66750" y="4572000"/>
            <a:ext cx="2428875" cy="59055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600200" y="4667250"/>
            <a:ext cx="561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A5568"/>
                </a:solidFill>
                <a:latin typeface="Microsoft YaHei"/>
                <a:ea typeface="Microsoft YaHei"/>
              </a:rPr>
              <a:t>34.11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762125" y="49244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190875" y="47529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476625" y="4572000"/>
            <a:ext cx="2428875" cy="59055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410075" y="4667250"/>
            <a:ext cx="561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34.24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391025" y="492442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高频约束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00750" y="47529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286500" y="4572000"/>
            <a:ext cx="2428875" cy="59055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219950" y="4667250"/>
            <a:ext cx="561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34.31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200900" y="492442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平移平均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810625" y="47529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096375" y="4572000"/>
            <a:ext cx="2428875" cy="590550"/>
          </a:xfrm>
          <a:prstGeom prst="roundRect">
            <a:avLst>
              <a:gd name="adj" fmla="val 645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0029825" y="4667250"/>
            <a:ext cx="561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C107"/>
                </a:solidFill>
                <a:latin typeface="Microsoft YaHei"/>
                <a:ea typeface="Microsoft YaHei"/>
              </a:rPr>
              <a:t>34.41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0077450" y="49244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D9E6F7"/>
                </a:solidFill>
                <a:latin typeface="Microsoft YaHei"/>
                <a:ea typeface="Microsoft YaHei"/>
              </a:rPr>
              <a:t>完整配方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704850" y="5895975"/>
            <a:ext cx="10858500" cy="428625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704850" y="5895975"/>
            <a:ext cx="10858500" cy="428625"/>
          </a:xfrm>
          <a:custGeom>
            <a:pathLst>
              <a:path w="1140" h="45">
                <a:moveTo>
                  <a:pt x="4" y="45"/>
                </a:move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38200" y="6029325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对照实验：把高频拆成独立分支的网络（双路小波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U-Net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）得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33.85 dB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，低于仅增加损失项的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34.24 dB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。显式拆分频带会损失跨频带信息，因此采用损失约束而非结构改动。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66750" y="6362700"/>
            <a:ext cx="10858500" cy="276225"/>
          </a:xfrm>
          <a:custGeom>
            <a:pathLst>
              <a:path w="1140" h="29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66750" y="6486525"/>
            <a:ext cx="2600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参考：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Parseval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能量守恒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条件均值为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MSE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最优解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13472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53" name="" descr="&lt;Slide style={{ width: '1280px', height: '720px', padding: 0, background: '#FFFFFF' }}&gt;&#10;  &lt;Box style={{ position: 'absolute', top: 0, left: 0, right: 0, height: 10, background: '#334155' }} /&gt;&#10;&#10;  &lt;Box style={{ position: 'absolute', top: 18, left: 70, right: 70, flexDirection: 'column', gap: 2 }}&gt;&#10;    &lt;Text style={{ fontSize: 13, color: '#475569', letterSpacing: 4, fontWeight: 'bold' }}&gt;03 模型设计 · 整体结构&lt;/Text&gt;&#10;    &lt;Text style={{ fontSize: 27, color: '#1E293B', fontWeight: 'bold' }}&gt;U 形主干 + 高频子带损失：结构负责保真，损失负责高频&lt;/Text&gt;&#10;  &lt;/Box&gt;&#10;&#10;  {/* 架构图 */}&#10;  &lt;Box style={{ position: 'absolute', top: 78, left: 70, right: 70, height: 398, alignItems: 'center', justifyContent: 'center' }}&gt;&#10;    &lt;Image src=&quot;G:/RealSR/docs/slides_new/assets/arch.jpg&quot; width={796} height={398} /&gt;&#10;  &lt;/Box&gt;&#10;&#10;  {/* 左：λ 一句话；右：维度设计与 bicubic */}&#10;  &lt;Box style={{ position: 'absolute', top: 484, left: 70, right: 70, height: 192, flexDirection: 'row', gap: 12 }}&gt;&#10;&#10;    &lt;Box style={{ flex: 1.15, background: '#FFF7ED', border: '1px solid #FED7AA', borderLeft: '5px solid #EA580C', borderRadius: 4, padding: 12, flexDirection: 'column', gap: 5 }}&gt;&#10;      &lt;Text style={{ fontSize: 14, color: '#9A3412', fontWeight: 'bold' }}&gt;分频设计：把监督信号只压在高频子带上&lt;/Text&gt;&#10;      &lt;Text style={{ fontSize: 12.5, color: '#1A2230', lineHeight: 1.5 }}&gt;一次 DWT 把预测与真值各分解成 2×2 四个子带：&lt;b style={{ color: '#475569' }}&gt;LL&lt;/b&gt; 是低频，承载亮度与平滑结构；&lt;b style={{ color: '#C2410C' }}&gt;HL / LH / HH&lt;/b&gt; 是三个方向的高频，承载边缘与纹理。超分真正要补的正是后者，故低频不参与监督，避免为锐度牺牲整体保真。&lt;/Text&gt;&#10;      &lt;Text style={{ fontSize: 12.5, color: '#1A2230', lineHeight: 1.5 }}&gt;小波基&lt;b&gt;严格正交且局部&lt;/b&gt;，这是该机制成立的关键：正交保证能量守恒，局部使约束作用在邻近区域。也正因此，此前全局的 FFT 频带增益头全线失败，而本机制有效。&lt;/Text&gt;&#10;      &lt;Text style={{ fontSize: 12.5, color: '#9A3412', lineHeight: 1.45 }}&gt;图中 &lt;b&gt;λ 就是高频损失项的权重&lt;/b&gt;（即 --dwt-weight），衡量为锐度让出多少保真。&lt;/Text&gt;&#10;    &lt;/Box&gt;&#10;&#10;    &lt;Box style={{ flex: 1, background: '#FFFFFF', border: '1px solid #E2E8F0', borderLeft: '5px solid #334155', borderRadius: 4, padding: 12, flexDirection: 'column', gap: 5 }}&gt;&#10;      &lt;Text style={{ fontSize: 14, color: '#1E293B', fontWeight: 'bold' }}&gt;维度设计：只降空间，不降信息；入口是双三次上采样&lt;/Text&gt;&#10;      &lt;Text style={{ fontSize: 12.5, color: '#1A2230', lineHeight: 1.5 }}&gt;编码器把边长逐级减半 128²→64²→32²→16²，但&lt;b&gt;通道同步翻倍&lt;/b&gt; 64→128→256→256，使 &lt;b style={{ color: '#0F766E' }}&gt;c·s 恒定&lt;/b&gt;。空间被压缩，&lt;b&gt;可表达的方向数不减反增&lt;/b&gt; —— 降采样不是丢信息，而是把算力换成更宽的表示，解码器再对称还原。&lt;/Text&gt;&#10;      &lt;Text style={{ fontSize: 12.5, color: '#1A2230', lineHeight: 1.5 }}&gt;入口先用&lt;b&gt;双三次插值 ×2&lt;/b&gt; 把 LR 抬到 HR(128²)，&lt;b&gt;整网都在此分辨率上运算&lt;/b&gt;；配合&lt;b&gt;全局残差&lt;/b&gt;，网络只学双三次与真值之差，零初始化输出头使 step 0 恰为双三次。&lt;/Text&gt;&#10;    &lt;/Box&gt;&#10;  &lt;/Box&gt;&#10;&#10;  &lt;Box style={{ position: 'absolute', bottom: 14, left: 70, right: 70, flexDirection: 'row', justifyContent: 'space-between', borderTop: '1px solid #E2E8F0', paddingTop: 8 }}&gt;&#10;    &lt;Text style={{ fontSize: 12.5, color: '#94A3B8' }}&gt;高频损失为训练期开关，推理零额外开销；正交小波保能量守恒，加权高频不损失低频保真。配置 --dwt-weight 8 --dwt-levels 2 --dwt-shift 4，主干 18.7M 参数&lt;/Text&gt;&#10;    &lt;Text style={{ fontSize: 13, color: '#475569', fontWeight: 'bold' }}&gt;07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66750" y="1714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475569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975" b="1" spc="300">
                <a:solidFill>
                  <a:srgbClr val="475569"/>
                </a:solidFill>
                <a:latin typeface="Microsoft YaHei"/>
                <a:ea typeface="Microsoft YaHei"/>
              </a:rPr>
              <a:t>模型设计</a:t>
            </a:r>
            <a:r>
              <a:rPr lang="en-US" sz="975" b="1" spc="3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475569"/>
                </a:solidFill>
                <a:latin typeface="Microsoft YaHei"/>
                <a:ea typeface="Microsoft YaHei"/>
              </a:rPr>
              <a:t>整体结构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66750" y="342900"/>
            <a:ext cx="108585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U </a:t>
            </a:r>
            <a:r>
              <a:rPr lang="zh-CN" sz="2025" b="1">
                <a:solidFill>
                  <a:srgbClr val="1E293B"/>
                </a:solidFill>
                <a:latin typeface="Microsoft YaHei"/>
                <a:ea typeface="Microsoft YaHei"/>
              </a:rPr>
              <a:t>形主干</a:t>
            </a:r>
            <a:r>
              <a:rPr lang="en-US" sz="20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025" b="1">
                <a:solidFill>
                  <a:srgbClr val="1E293B"/>
                </a:solidFill>
                <a:latin typeface="Microsoft YaHei"/>
                <a:ea typeface="Microsoft YaHei"/>
              </a:rPr>
              <a:t>高频子带损失：结构负责保真，损失负责高频</a:t>
            </a:r>
            <a:endParaRPr/>
          </a:p>
        </p:txBody>
      </p:sp>
      <p:pic>
        <p:nvPicPr>
          <p:cNvPr id="358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2305050" y="742950"/>
            <a:ext cx="7581900" cy="3790950"/>
          </a:xfrm>
          <a:prstGeom prst="rect">
            <a:avLst/>
          </a:prstGeom>
          <a:ln/>
        </p:spPr>
      </p:pic>
      <p:sp>
        <p:nvSpPr>
          <p:cNvPr id="359" name=""/>
          <p:cNvSpPr/>
          <p:nvPr/>
        </p:nvSpPr>
        <p:spPr>
          <a:xfrm rot="0" flipH="0" flipV="0">
            <a:off x="714375" y="4610100"/>
            <a:ext cx="5743575" cy="1828800"/>
          </a:xfrm>
          <a:prstGeom prst="roundRect">
            <a:avLst>
              <a:gd name="adj" fmla="val 2083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60" name=""/>
          <p:cNvSpPr/>
          <p:nvPr/>
        </p:nvSpPr>
        <p:spPr>
          <a:xfrm rot="0" flipH="0" flipV="0">
            <a:off x="714375" y="4610100"/>
            <a:ext cx="5743575" cy="1828800"/>
          </a:xfrm>
          <a:custGeom>
            <a:pathLst>
              <a:path w="603" h="192">
                <a:moveTo>
                  <a:pt x="5" y="192"/>
                </a:moveTo>
                <a:cubicBezTo>
                  <a:pt x="4" y="192"/>
                  <a:pt x="3" y="192"/>
                  <a:pt x="2" y="191"/>
                </a:cubicBezTo>
                <a:cubicBezTo>
                  <a:pt x="1" y="191"/>
                  <a:pt x="0" y="190"/>
                  <a:pt x="0" y="188"/>
                </a:cubicBezTo>
                <a:lnTo>
                  <a:pt x="0" y="188"/>
                </a:lnTo>
                <a:lnTo>
                  <a:pt x="0" y="18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28675" y="4724400"/>
            <a:ext cx="5467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9A3412"/>
                </a:solidFill>
                <a:latin typeface="Microsoft YaHei"/>
                <a:ea typeface="Microsoft YaHei"/>
              </a:rPr>
              <a:t>分频设计：把监督信号只压在高频子带上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28675" y="4933950"/>
            <a:ext cx="54673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一次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DWT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把预测与真值各分解成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2×2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四个子带：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LL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是低频，承载亮度与平滑结构；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HL / LH / HH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是三个方向的高频，承载边缘与纹理。超分真正要补的正是后者，故低频不参与监督，避免为锐度牺牲整体保真。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28675" y="5629275"/>
            <a:ext cx="54673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小波基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严格正交且局部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，这是该机制成立的关键：正交保证能量守恒，局部使约束作用在邻近区域。也正因此，此前全局的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FFT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频带增益头全线失败，而本机制有效。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28675" y="6105525"/>
            <a:ext cx="54673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9A3412"/>
                </a:solidFill>
                <a:latin typeface="Microsoft YaHei"/>
                <a:ea typeface="Microsoft YaHei"/>
              </a:rPr>
              <a:t>图中</a:t>
            </a:r>
            <a:r>
              <a:rPr lang="en-US" sz="938">
                <a:solidFill>
                  <a:srgbClr val="9A3412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9A3412"/>
                </a:solidFill>
                <a:latin typeface="Microsoft YaHei"/>
                <a:ea typeface="Microsoft YaHei"/>
              </a:rPr>
              <a:t xml:space="preserve">λ </a:t>
            </a:r>
            <a:r>
              <a:rPr lang="zh-CN" sz="938">
                <a:solidFill>
                  <a:srgbClr val="9A3412"/>
                </a:solidFill>
                <a:latin typeface="Microsoft YaHei"/>
                <a:ea typeface="Microsoft YaHei"/>
              </a:rPr>
              <a:t>就是高频损失项的权重</a:t>
            </a:r>
            <a:r>
              <a:rPr lang="zh-CN" sz="938">
                <a:solidFill>
                  <a:srgbClr val="9A3412"/>
                </a:solidFill>
                <a:latin typeface="Microsoft YaHei"/>
                <a:ea typeface="Microsoft YaHei"/>
              </a:rPr>
              <a:t>（即</a:t>
            </a:r>
            <a:r>
              <a:rPr lang="en-US" sz="938">
                <a:solidFill>
                  <a:srgbClr val="9A3412"/>
                </a:solidFill>
                <a:latin typeface="Microsoft YaHei"/>
                <a:ea typeface="Microsoft YaHei"/>
              </a:rPr>
              <a:t xml:space="preserve"> --dwt-weight</a:t>
            </a:r>
            <a:r>
              <a:rPr lang="zh-CN" sz="938">
                <a:solidFill>
                  <a:srgbClr val="9A3412"/>
                </a:solidFill>
                <a:latin typeface="Microsoft YaHei"/>
                <a:ea typeface="Microsoft YaHei"/>
              </a:rPr>
              <a:t>），衡量为锐度让出多少保真。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572250" y="4610100"/>
            <a:ext cx="5000625" cy="1828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572250" y="4610100"/>
            <a:ext cx="5000625" cy="1828800"/>
          </a:xfrm>
          <a:custGeom>
            <a:pathLst>
              <a:path w="525" h="192">
                <a:moveTo>
                  <a:pt x="5" y="192"/>
                </a:moveTo>
                <a:cubicBezTo>
                  <a:pt x="4" y="192"/>
                  <a:pt x="3" y="192"/>
                  <a:pt x="2" y="191"/>
                </a:cubicBezTo>
                <a:cubicBezTo>
                  <a:pt x="1" y="191"/>
                  <a:pt x="0" y="190"/>
                  <a:pt x="0" y="188"/>
                </a:cubicBezTo>
                <a:lnTo>
                  <a:pt x="0" y="188"/>
                </a:lnTo>
                <a:lnTo>
                  <a:pt x="0" y="18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34155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686550" y="4724400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维度设计：只降空间，不降信息；入口是双三次上采样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686550" y="4933950"/>
            <a:ext cx="47244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编码器把边长逐级减半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128²→64²→32²→16²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，但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通道同步翻倍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64→128→256→256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，使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c·s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恒定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。空间被压缩，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可表达的方向数不减反增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降采样不是丢信息，而是把算力换成更宽的表示，解码器再对称还原。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686550" y="5629275"/>
            <a:ext cx="47244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入口先用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双三次插值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×2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把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LR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抬到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HR(128²)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整网都在此分辨率上运算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；配合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全局残差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，网络只学双三次与真值之差，零初始化输出头使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step 0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恰为双三次。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66750" y="6486525"/>
            <a:ext cx="10858500" cy="247650"/>
          </a:xfrm>
          <a:custGeom>
            <a:pathLst>
              <a:path w="1140" h="26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66750" y="6572250"/>
            <a:ext cx="860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高频损失为训练期开关，推理零额外开销；正交小波保能量守恒，加权高频不损失低频保真。配置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 xml:space="preserve"> --dwt-weight 8 --dwt-levels 2 --dwt-shift 4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，主干</a:t>
            </a:r>
            <a:r>
              <a:rPr lang="en-US" sz="938">
                <a:solidFill>
                  <a:srgbClr val="94A3B8"/>
                </a:solidFill>
                <a:latin typeface="Microsoft YaHei"/>
                <a:ea typeface="Microsoft YaHei"/>
              </a:rPr>
              <a:t xml:space="preserve"> 18.7M </a:t>
            </a:r>
            <a:r>
              <a:rPr lang="zh-CN" sz="938">
                <a:solidFill>
                  <a:srgbClr val="94A3B8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1106150" y="65722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475569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73" name="" descr="&lt;Slide style={{ width: '1280px', height: '720px', padding: 0, background: '#FFFFFF' }}&gt;&#10;  &lt;Box style={{ position: 'absolute', top: 0, left: 0, right: 0, height: 10, background: '#334155' }} /&gt;&#10;&#10;  &lt;Box style={{ position: 'absolute', top: 14, left: 70, right: 70, flexDirection: 'column', gap: 2 }}&gt;&#10;    &lt;Text style={{ fontSize: 12, color: '#475569', letterSpacing: 4, fontWeight: 'bold' }}&gt;04 硬件基础 · 形状决策&lt;/Text&gt;&#10;    &lt;Text style={{ fontSize: 23, color: '#1E293B', fontWeight: 'bold' }}&gt;带宽不是瓶颈，形状才是：U-Net 的通道与边长由解析关系推出&lt;/Text&gt;&#10;  &lt;/Box&gt;&#10;&#10;  {/* 一、硬件存算比：把数摆清楚 */}&#10;  &lt;Box style={{ position: 'absolute', top: 64, left: 70, right: 70, height: 256, flexDirection: 'column', gap: 6 }}&gt;&#10;    &lt;Text style={{ fontSize: 14, color: '#1E293B', fontWeight: 'bold' }}&gt;一、硬件存算比是多少：RTX 4090 的分水岭在 164 FLOP/byte&lt;/Text&gt;&#10;&#10;    &lt;Box style={{ flexDirection: 'row', gap: 12, flex: 1 }}&gt;&#10;      &lt;Box style={{ flex: 1.12, background: '#F8FAFC', border: '1px solid #E2E8F0', borderLeft: '4px solid #334155', borderRadius: 4, padding: 13, flexDirection: 'column', gap: 7 }}&gt;&#10;        &lt;Text style={{ fontSize: 13, color: '#334155', fontWeight: 'bold' }}&gt;分水岭（Ridge point）的来历&lt;/Text&gt;&#10;        &lt;Text style={{ fontSize: 12.5, color: '#475569', lineHeight: 1.5 }}&gt;每读入一个字节能顺带完成的浮点运算数。芯片有临界值：低于它算力被访存拖住，高于它访存不再是限制。&lt;/Text&gt;&#10;        &lt;Box style={{ background: '#FFFFFF', borderRadius: 3, padding: 6, alignItems: 'center' }}&gt;&#10;          &lt;Math latex='I_{\star} \;=\; \frac{165\ \mathrm{TFLOPS}}{1008\ \mathrm{GB/s}} \;\approx\; 164\ \ \mathrm{FLOP/byte}' width={330} display={true} color='#334155' /&gt;&#10;        &lt;/Box&gt;&#10;        &lt;Text style={{ fontSize: 12.5, color: '#334155', lineHeight: 1.45 }}&gt;分子为 4090 的 bf16 密集算力峰值，分母为显存带宽&lt;/Text&gt;&#10;      &lt;/Box&gt;&#10;&#10;      &lt;Box style={{ flex: 1, background: '#FEF2F2', border: '1px solid #FCA5A5', borderLeft: '4px solid #DC2626', borderRadius: 4, padding: 13, flexDirection: 'column', gap: 7 }}&gt;&#10;        &lt;Text style={{ fontSize: 13, color: '#B91C1C', fontWeight: 'bold' }}&gt;DiT-S：1962 = 分水岭的 12 倍，根本不该被访存卡住&lt;/Text&gt;&#10;        &lt;Text style={{ fontSize: 12.5, color: '#1A2230', lineHeight: 1.5 }}&gt;每样本 1450 GFLOP 运算，对应 737 MB 激活，二者相除落在 &lt;Text style={{ fontWeight: 'bold', color: '#B91C1C' }}&gt;1962 FLOP/byte&lt;/Text&gt;。远高于分水岭 164，说明它不受带宽限制，实测利用率 30.8%。&lt;/Text&gt;&#10;        &lt;Box style={{ background: '#FFFFFF', borderRadius: 3, padding: 7 }}&gt;&#10;          &lt;Text style={{ fontSize: 12.5, color: '#7F1D1D', lineHeight: 1.45 }}&gt;但代价在别处：它把 &lt;b&gt;1604.6 GFLOP/图&lt;/b&gt;（前向+反向）中 &lt;b&gt;64% 花在全分辨率的平方注意力&lt;/b&gt;上，而超分是高度局部的任务。既然访存不是瓶颈，优化目标只能是减少 FLOPs。&lt;/Text&gt;&#10;        &lt;/Box&gt;&#10;      &lt;/Box&gt;&#10;&#10;      &lt;Box style={{ flex: 0.98, background: '#FFFFFF', border: '1px solid #E2E8F0', borderLeft: '4px solid #475569', borderRadius: 4, padding: 13, flexDirection: 'column', gap: 7 }}&gt;&#10;        &lt;Text style={{ fontSize: 13, color: '#334155', fontWeight: 'bold' }}&gt;所以我们这样决策&lt;/Text&gt;&#10;        &lt;Text style={{ fontSize: 12.5, color: '#1A2230', lineHeight: 1.5 }}&gt;把 FLOPs 从代价高、收益低的地方挪走：DiT 有 &lt;Text style={{ fontWeight: 'bold', color: '#334155' }}&gt;64% 的算力花在全分辨率的平方注意力上&lt;/Text&gt;，换成 U-Net 后算力随分辨率逐级下降，每样本只需 &lt;Text style={{ fontWeight: 'bold', color: '#334155' }}&gt;47.23 GFLOP&lt;/Text&gt;（前向）。&lt;/Text&gt;&#10;        &lt;Text style={{ fontSize: 12.5, color: '#1A2230', lineHeight: 1.5 }}&gt;同口径实测训练吞吐：&lt;Text style={{ fontWeight: 'bold', color: '#334155' }}&gt;U-Net 233 图/秒 vs DiT 31.7 图/秒 = 7.4 倍&lt;/Text&gt;。&lt;/Text&gt;&#10;      &lt;/Box&gt;&#10;    &lt;/Box&gt;&#10;  &lt;/Box&gt;&#10;&#10;  {/* 二、形状由公式推出 */}&#10;  &lt;Box style={{ position: 'absolute', top: 328, left: 70, right: 70, height: 340, flexDirection: 'column', gap: 6 }}&gt;&#10;    &lt;Text style={{ fontSize: 14, color: '#1E293B', fontWeight: 'bold' }}&gt;二、U-Net 形状是算出来的：第 l 级边长 s_l、通道 c_l，逐级减半&lt;/Text&gt;&#10;&#10;    &lt;Box style={{ flexDirection: 'row', gap: 10, height: 116 }}&gt;&#10;      &lt;Box style={{ flex: 1, background: '#F8FAFC', border: '1px solid #E2E8F0', borderTop: '3px solid #475569', borderRadius: 4, padding: 8, flexDirection: 'column', gap: 3, alignItems: 'center' }}&gt;&#10;        &lt;Text style={{ fontSize: 12, color: '#334155', fontWeight: 'bold' }}&gt;参数量：只随通道平方增长&lt;/Text&gt;&#10;        &lt;Math latex='P \;\propto\; \sum_{l} c_l^{2}' width={138} display={true} color='#334155' /&gt;&#10;        &lt;Text style={{ fontSize: 12, color: '#64748B', textAlign: 'center' }}&gt;3×3 卷积核只与通道数有关，与该级边长 s 无关&lt;/Text&gt;&#10;      &lt;/Box&gt;&#10;      &lt;Box style={{ flex: 1, background: '#F8FAFC', border: '1px solid #E2E8F0', borderTop: '3px solid #0F766E', borderRadius: 4, padding: 8, flexDirection: 'column', gap: 3, alignItems: 'center' }}&gt;&#10;        &lt;Text style={{ fontSize: 12, color: '#115E59', fontWeight: 'bold' }}&gt;计算量：通道与边长各乘一次方&lt;/Text&gt;&#10;        &lt;Math latex='F \;\propto\; \sum_{l} c_l^{2} s_l^{2}' width={148} display={true} color='#115E59' /&gt;&#10;        &lt;Text style={{ fontSize: 12, color: '#64748B', textAlign: 'center' }}&gt;每级有 s_l² 个像素，每个像素做 c_l² 次乘加&lt;/Text&gt;&#10;      &lt;/Box&gt;&#10;      &lt;Box style={{ flex: 1, background: '#F8FAFC', border: '1px solid #E2E8F0', borderTop: '3px solid #EA580C', borderRadius: 4, padding: 8, flexDirection: 'column', gap: 3, alignItems: 'center' }}&gt;&#10;        &lt;Text style={{ fontSize: 12, color: '#C2410C', fontWeight: 'bold' }}&gt;激活显存：通道只乘一次方&lt;/Text&gt;&#10;        &lt;Math latex='M \;\propto\; \sum_{l} c_l s_l^{2}' width={148} display={true} color='#C2410C' /&gt;&#10;        &lt;Text style={{ fontSize: 12, color: '#64748B', textAlign: 'center' }}&gt;反传需缓存每级特征图，容量是通道数乘像素数&lt;/Text&gt;&#10;      &lt;/Box&gt;&#10;    &lt;/Box&gt;&#10;&#10;    &lt;Box style={{ background: '#FFF7ED', border: '1px solid #FED7AA', borderRadius: 4, padding: 8, flexDirection: 'row', alignItems: 'center', gap: 14 }}&gt;&#10;      &lt;Text style={{ fontSize: 12.5, color: '#9A3412', fontWeight: 'bold', width: 130 }}&gt;令 c_l · s_l = 常数&lt;/Text&gt;&#10;      &lt;Text style={{ fontSize: 12.5, color: '#1A2230', lineHeight: 1.45, flex: 1 }}&gt;对比两式：&lt;b&gt;P 里通道是平方，F 里通道与边长同阶&lt;/b&gt;。要让参数最省、算力不塌，就让通道加倍恰好抵掉边长减半，乘积恒定，于是每级算力均分。这就是 1:2:4:4 的来源，也是判据。&lt;/Text&gt;&#10;      &lt;Math latex='c_l \;\propto\; 1 / s_l' width={105} display={true} color='#EA580C' /&gt;&#10;    &lt;/Box&gt;&#10;&#10;    &lt;Box style={{ flexDirection: 'row', gap: 10, flex: 1 }}&gt;&#10;      &lt;Box style={{ flex: 1, background: '#FFFFFF', border: '1px solid #E2E8F0', borderLeft: '4px solid #94A3B8', borderRadius: 4, padding: 10, flexDirection: 'column', gap: 4 }}&gt;&#10;        &lt;Text style={{ fontSize: 12, color: '#475569', fontWeight: 'bold' }}&gt;原形状 1128 = (1,1,2,8)&lt;/Text&gt;&#10;        &lt;Text style={{ fontSize: 12.5, color: '#64748B' }}&gt;通道 64 / 64 / 128 / 512&lt;/Text&gt;&#10;        &lt;Text style={{ fontSize: 12.5, color: '#1A2230', lineHeight: 1.45 }}&gt;边长最小的 16² 一级却塞进 512 通道，c·s 在 8192 与 4096 之间跳动，参数被最宽一级独占。&lt;/Text&gt;&#10;        &lt;Text style={{ fontSize: 12.5, color: '#475569', lineHeight: 1.4 }}&gt;参数 36.89M　FLOPs 9.42 G&lt;/Text&gt;&#10;      &lt;/Box&gt;&#10;      &lt;Box style={{ flex: 1, background: '#F0FDFA', border: '1px solid #5EEAD4', borderLeft: '4px solid #0F766E', borderRadius: 4, padding: 10, flexDirection: 'column', gap: 4 }}&gt;&#10;        &lt;Text style={{ fontSize: 12, color: '#115E59', fontWeight: 'bold' }}&gt;推出 1244 = (1,2,4,4)&lt;/Text&gt;&#10;        &lt;Text style={{ fontSize: 12.5, color: '#0F766E' }}&gt;通道 64 / 128 / 256 / 256&lt;/Text&gt;&#10;        &lt;Text style={{ fontSize: 12.5, color: '#1A2230', lineHeight: 1.45 }}&gt;前三级 c·s 恒等于 8192，每级算力各占 30.8%，参数减半而容量不丢。&lt;/Text&gt;&#10;        &lt;Text style={{ fontSize: 12.5, color: '#115E59', lineHeight: 1.4 }}&gt;参数 18.67M　FLOPs 11.41 G&lt;/Text&gt;&#10;      &lt;/Box&gt;&#10;      &lt;Box style={{ flex: 1.06, background: '#FFFFFF', border: '1px solid #E2E8F0', borderLeft: '4px solid #F59E0B', borderRadius: 4, padding: 10, flexDirection: 'column', gap: 4 }}&gt;&#10;        &lt;Text style={{ fontSize: 12, color: '#B45309', fontWeight: 'bold' }}&gt;通道数换表达力，但会饱和&lt;/Text&gt;&#10;        &lt;Text style={{ fontSize: 12.5, color: '#1A2230', lineHeight: 1.45 }}&gt;通道越宽，每级能同时表达的方向越多 —— 这是 5M → 10.7M → 18.7M 一路涨点的来源。&lt;/Text&gt;&#10;        &lt;Text style={{ fontSize: 12.5, color: '#1A2230', lineHeight: 1.45 }}&gt;但拐点在 10M 之后：18.7M → 72.5M 仅 +0.048。&lt;/Text&gt;&#10;        &lt;Text style={{ fontSize: 12.5, color: '#B45309', fontWeight: 'bold' }}&gt;按公式定形状即可，不盲目加宽&lt;/Text&gt;&#10;      &lt;/Box&gt;&#10;    &lt;/Box&gt;&#10;  &lt;/Box&gt;&#10;&#10;  &lt;Box style={{ position: 'absolute', bottom: 16, left: 70, right: 70, flexDirection: 'row', justifyContent: 'space-between', borderTop: '1px solid #E2E8F0', paddingTop: 8 }}&gt;&#10;    &lt;Text style={{ fontSize: 12, color: '#94A3B8' }}&gt;4090 峰值取 bf16 密集算力 165.2 TFLOPS，带宽 1008 GB/s；公式按 diffusion/unet.py 的 3×3 ResBlock 写；利用率口径为前向+反向，详见第 09 页&lt;/Text&gt;&#10;    &lt;Text style={{ fontSize: 12, color: '#475569', fontWeight: 'bold' }}&gt;08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66750" y="133350"/>
            <a:ext cx="1085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300">
                <a:solidFill>
                  <a:srgbClr val="475569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00" b="1" spc="300">
                <a:solidFill>
                  <a:srgbClr val="475569"/>
                </a:solidFill>
                <a:latin typeface="Microsoft YaHei"/>
                <a:ea typeface="Microsoft YaHei"/>
              </a:rPr>
              <a:t>硬件基础</a:t>
            </a:r>
            <a:r>
              <a:rPr lang="en-US" sz="900" b="1" spc="3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300">
                <a:solidFill>
                  <a:srgbClr val="475569"/>
                </a:solidFill>
                <a:latin typeface="Microsoft YaHei"/>
                <a:ea typeface="Microsoft YaHei"/>
              </a:rPr>
              <a:t>形状决策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66750" y="295275"/>
            <a:ext cx="10858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293B"/>
                </a:solidFill>
                <a:latin typeface="Microsoft YaHei"/>
                <a:ea typeface="Microsoft YaHei"/>
              </a:rPr>
              <a:t>带宽不是瓶颈，形状才是：</a:t>
            </a:r>
            <a:r>
              <a:rPr lang="en-US" sz="1725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U-Net </a:t>
            </a:r>
            <a:r>
              <a:rPr lang="zh-CN" sz="1725" b="1">
                <a:solidFill>
                  <a:srgbClr val="1E293B"/>
                </a:solidFill>
                <a:latin typeface="Microsoft YaHei"/>
                <a:ea typeface="Microsoft YaHei"/>
              </a:rPr>
              <a:t>的通道与边长由解析关系推出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66750" y="609600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一、硬件存算比是多少：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RTX 4090 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的分水岭在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164 FLOP/byte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704850" y="828675"/>
            <a:ext cx="3838575" cy="2219325"/>
          </a:xfrm>
          <a:prstGeom prst="roundRect">
            <a:avLst>
              <a:gd name="adj" fmla="val 171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704850" y="828675"/>
            <a:ext cx="3838575" cy="2219325"/>
          </a:xfrm>
          <a:custGeom>
            <a:pathLst>
              <a:path w="403" h="233">
                <a:moveTo>
                  <a:pt x="4" y="233"/>
                </a:moveTo>
                <a:cubicBezTo>
                  <a:pt x="2" y="233"/>
                  <a:pt x="0" y="231"/>
                  <a:pt x="0" y="22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3"/>
                </a:lnTo>
                <a:close/>
              </a:path>
            </a:pathLst>
          </a:custGeom>
          <a:solidFill>
            <a:srgbClr val="334155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28675" y="952500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分水岭（</a:t>
            </a:r>
            <a:r>
              <a:rPr lang="en-US" sz="975" b="1">
                <a:solidFill>
                  <a:srgbClr val="334155"/>
                </a:solidFill>
                <a:latin typeface="Microsoft YaHei"/>
                <a:ea typeface="Microsoft YaHei"/>
              </a:rPr>
              <a:t>Ridge point</a:t>
            </a: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）的来历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28675" y="1171575"/>
            <a:ext cx="35528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每读入一个字节能顺带完成的浮点运算数。芯片有临界值：低于它算力被访存拖住，高于它访存不再是限制。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828675" y="1666875"/>
            <a:ext cx="355282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84" name="" descr="I_{\star} \;=\; \frac{165\ \mathrm{TFLOPS}}{1008\ \mathrm{GB/s}} \;\approx\; 164\ \ \mathrm{FLOP/byte}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724025"/>
            <a:ext cx="3143250" cy="409575"/>
          </a:xfrm>
          <a:prstGeom prst="rect"/>
          <a:ln/>
        </p:spPr>
      </p:pic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28675" y="2257425"/>
            <a:ext cx="35528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334155"/>
                </a:solidFill>
                <a:latin typeface="Microsoft YaHei"/>
                <a:ea typeface="Microsoft YaHei"/>
              </a:rPr>
              <a:t>分子为</a:t>
            </a:r>
            <a:r>
              <a:rPr lang="en-US" sz="938">
                <a:solidFill>
                  <a:srgbClr val="334155"/>
                </a:solidFill>
                <a:latin typeface="Microsoft YaHei"/>
                <a:ea typeface="Microsoft YaHei"/>
              </a:rPr>
              <a:t xml:space="preserve"> 4090 </a:t>
            </a:r>
            <a:r>
              <a:rPr lang="zh-CN" sz="938">
                <a:solidFill>
                  <a:srgbClr val="334155"/>
                </a:solidFill>
                <a:latin typeface="Microsoft YaHei"/>
                <a:ea typeface="Microsoft YaHei"/>
              </a:rPr>
              <a:t>的</a:t>
            </a:r>
            <a:r>
              <a:rPr lang="en-US" sz="938">
                <a:solidFill>
                  <a:srgbClr val="334155"/>
                </a:solidFill>
                <a:latin typeface="Microsoft YaHei"/>
                <a:ea typeface="Microsoft YaHei"/>
              </a:rPr>
              <a:t xml:space="preserve"> bf16 </a:t>
            </a:r>
            <a:r>
              <a:rPr lang="zh-CN" sz="938">
                <a:solidFill>
                  <a:srgbClr val="334155"/>
                </a:solidFill>
                <a:latin typeface="Microsoft YaHei"/>
                <a:ea typeface="Microsoft YaHei"/>
              </a:rPr>
              <a:t>密集算力峰值，分母为显存带宽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657725" y="828675"/>
            <a:ext cx="3429000" cy="2219325"/>
          </a:xfrm>
          <a:prstGeom prst="roundRect">
            <a:avLst>
              <a:gd name="adj" fmla="val 1717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4657725" y="828675"/>
            <a:ext cx="3429000" cy="2219325"/>
          </a:xfrm>
          <a:custGeom>
            <a:pathLst>
              <a:path w="360" h="233">
                <a:moveTo>
                  <a:pt x="4" y="233"/>
                </a:moveTo>
                <a:cubicBezTo>
                  <a:pt x="2" y="233"/>
                  <a:pt x="0" y="231"/>
                  <a:pt x="0" y="22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3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781550" y="95250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B91C1C"/>
                </a:solidFill>
                <a:latin typeface="Microsoft YaHei"/>
                <a:ea typeface="Microsoft YaHei"/>
              </a:rPr>
              <a:t>DiT-S</a:t>
            </a:r>
            <a:r>
              <a:rPr lang="zh-CN" sz="975" b="1">
                <a:solidFill>
                  <a:srgbClr val="B91C1C"/>
                </a:solidFill>
                <a:latin typeface="Microsoft YaHei"/>
                <a:ea typeface="Microsoft YaHei"/>
              </a:rPr>
              <a:t>：</a:t>
            </a:r>
            <a:r>
              <a:rPr lang="en-US" sz="975" b="1">
                <a:solidFill>
                  <a:srgbClr val="B91C1C"/>
                </a:solidFill>
                <a:latin typeface="Microsoft YaHei"/>
                <a:ea typeface="Microsoft YaHei"/>
              </a:rPr>
              <a:t xml:space="preserve">1962 = </a:t>
            </a:r>
            <a:r>
              <a:rPr lang="zh-CN" sz="975" b="1">
                <a:solidFill>
                  <a:srgbClr val="B91C1C"/>
                </a:solidFill>
                <a:latin typeface="Microsoft YaHei"/>
                <a:ea typeface="Microsoft YaHei"/>
              </a:rPr>
              <a:t>分水岭的</a:t>
            </a:r>
            <a:r>
              <a:rPr lang="en-US" sz="975" b="1">
                <a:solidFill>
                  <a:srgbClr val="B91C1C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975" b="1">
                <a:solidFill>
                  <a:srgbClr val="B91C1C"/>
                </a:solidFill>
                <a:latin typeface="Microsoft YaHei"/>
                <a:ea typeface="Microsoft YaHei"/>
              </a:rPr>
              <a:t>倍，根本不该被访存卡住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781550" y="1171575"/>
            <a:ext cx="3143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每样本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1450 GFLOP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运算，对应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737 MB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激活，二者相除落在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1962 FLOP/byte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。远高于分水岭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164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，说明它不受带宽限制，实测利用率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30.8%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781550" y="1885950"/>
            <a:ext cx="3143250" cy="962025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4848225" y="1952625"/>
            <a:ext cx="30099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但代价在别处：它把</a:t>
            </a:r>
            <a:r>
              <a:rPr lang="en-US" sz="938">
                <a:solidFill>
                  <a:srgbClr val="7F1D1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7F1D1D"/>
                </a:solidFill>
                <a:latin typeface="Microsoft YaHei"/>
                <a:ea typeface="Microsoft YaHei"/>
              </a:rPr>
              <a:t>1604.6 GFLOP/</a:t>
            </a: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图</a:t>
            </a: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（前向</a:t>
            </a:r>
            <a:r>
              <a:rPr lang="en-US" sz="938">
                <a:solidFill>
                  <a:srgbClr val="7F1D1D"/>
                </a:solidFill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反向）中</a:t>
            </a:r>
            <a:r>
              <a:rPr lang="en-US" sz="938">
                <a:solidFill>
                  <a:srgbClr val="7F1D1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7F1D1D"/>
                </a:solidFill>
                <a:latin typeface="Microsoft YaHei"/>
                <a:ea typeface="Microsoft YaHei"/>
              </a:rPr>
              <a:t xml:space="preserve">64% </a:t>
            </a: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花在全分辨率的平方注意力</a:t>
            </a: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上，而超分是高度局部的任务。既然访存不是瓶颈，优化目标只能是减少</a:t>
            </a:r>
            <a:r>
              <a:rPr lang="en-US" sz="938">
                <a:solidFill>
                  <a:srgbClr val="7F1D1D"/>
                </a:solidFill>
                <a:latin typeface="Microsoft YaHei"/>
                <a:ea typeface="Microsoft YaHei"/>
              </a:rPr>
              <a:t xml:space="preserve"> FLOPs</a:t>
            </a:r>
            <a:r>
              <a:rPr lang="zh-CN" sz="938">
                <a:solidFill>
                  <a:srgbClr val="7F1D1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201025" y="828675"/>
            <a:ext cx="3362325" cy="2219325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8201025" y="828675"/>
            <a:ext cx="3362325" cy="2219325"/>
          </a:xfrm>
          <a:custGeom>
            <a:pathLst>
              <a:path w="353" h="233">
                <a:moveTo>
                  <a:pt x="4" y="233"/>
                </a:moveTo>
                <a:cubicBezTo>
                  <a:pt x="2" y="233"/>
                  <a:pt x="0" y="231"/>
                  <a:pt x="0" y="22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33"/>
                </a:lnTo>
                <a:close/>
              </a:path>
            </a:pathLst>
          </a:custGeom>
          <a:solidFill>
            <a:srgbClr val="475569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24850" y="9525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334155"/>
                </a:solidFill>
                <a:latin typeface="Microsoft YaHei"/>
                <a:ea typeface="Microsoft YaHei"/>
              </a:rPr>
              <a:t>所以我们这样决策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324850" y="1171575"/>
            <a:ext cx="307657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把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FLOPs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从代价高、收益低的地方挪走：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DiT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有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64%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的算力花在全分辨率的平方注意力上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，换成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后算力随分辨率逐级下降，每样本只需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47.23 GFLOP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（前向）。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24850" y="1885950"/>
            <a:ext cx="30765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同口径实测训练吞吐：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U-Net 233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图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vs DiT 31.7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图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= 7.4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倍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66750" y="3124200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二、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U-Net 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形状是算出来的：第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l 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级边长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s_l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、通道</a:t>
            </a:r>
            <a:r>
              <a:rPr lang="en-US" sz="10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c_l</a:t>
            </a: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，逐级减半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66750" y="3371850"/>
            <a:ext cx="3552825" cy="11049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666750" y="3371850"/>
            <a:ext cx="3552825" cy="1104900"/>
          </a:xfrm>
          <a:custGeom>
            <a:pathLst>
              <a:path w="373" h="116">
                <a:moveTo>
                  <a:pt x="369" y="0"/>
                </a:moveTo>
                <a:cubicBezTo>
                  <a:pt x="371" y="0"/>
                  <a:pt x="373" y="2"/>
                  <a:pt x="373" y="4"/>
                </a:cubicBezTo>
                <a:cubicBezTo>
                  <a:pt x="373" y="3"/>
                  <a:pt x="372" y="3"/>
                  <a:pt x="37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475569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762125" y="344805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334155"/>
                </a:solidFill>
                <a:latin typeface="Microsoft YaHei"/>
                <a:ea typeface="Microsoft YaHei"/>
              </a:rPr>
              <a:t>参数量：只随通道平方增长</a:t>
            </a:r>
            <a:endParaRPr/>
          </a:p>
        </p:txBody>
      </p:sp>
      <p:pic>
        <p:nvPicPr>
          <p:cNvPr id="401" name="" descr="P \;\propto\; \sum_{l} c_l^{2}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790700" y="3619500"/>
            <a:ext cx="1314450" cy="561975"/>
          </a:xfrm>
          <a:prstGeom prst="rect"/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228725" y="4210050"/>
            <a:ext cx="2438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3×3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卷积核只与通道数有关，与该级边长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 s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无关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4314825" y="3371850"/>
            <a:ext cx="3562350" cy="11049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314825" y="3371850"/>
            <a:ext cx="3562350" cy="1104900"/>
          </a:xfrm>
          <a:custGeom>
            <a:pathLst>
              <a:path w="374" h="116">
                <a:moveTo>
                  <a:pt x="370" y="0"/>
                </a:moveTo>
                <a:cubicBezTo>
                  <a:pt x="372" y="0"/>
                  <a:pt x="374" y="2"/>
                  <a:pt x="374" y="4"/>
                </a:cubicBezTo>
                <a:cubicBezTo>
                  <a:pt x="374" y="3"/>
                  <a:pt x="373" y="3"/>
                  <a:pt x="373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295900" y="3448050"/>
            <a:ext cx="1600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5E59"/>
                </a:solidFill>
                <a:latin typeface="Microsoft YaHei"/>
                <a:ea typeface="Microsoft YaHei"/>
              </a:rPr>
              <a:t>计算量：通道与边长各乘一次方</a:t>
            </a:r>
            <a:endParaRPr/>
          </a:p>
        </p:txBody>
      </p:sp>
      <p:pic>
        <p:nvPicPr>
          <p:cNvPr id="406" name="" descr="F \;\propto\; \sum_{l} c_l^{2} s_l^{2}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391150" y="3619500"/>
            <a:ext cx="1409700" cy="514350"/>
          </a:xfrm>
          <a:prstGeom prst="rect"/>
          <a:ln/>
        </p:spPr>
      </p:pic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991100" y="4162425"/>
            <a:ext cx="22193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每级有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 s_l²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个像素，每个像素做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 c_l²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次乘加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7972425" y="3371850"/>
            <a:ext cx="3552825" cy="11049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7972425" y="3371850"/>
            <a:ext cx="3552825" cy="1104900"/>
          </a:xfrm>
          <a:custGeom>
            <a:pathLst>
              <a:path w="373" h="116">
                <a:moveTo>
                  <a:pt x="369" y="0"/>
                </a:moveTo>
                <a:cubicBezTo>
                  <a:pt x="371" y="0"/>
                  <a:pt x="373" y="2"/>
                  <a:pt x="373" y="4"/>
                </a:cubicBezTo>
                <a:cubicBezTo>
                  <a:pt x="373" y="3"/>
                  <a:pt x="372" y="3"/>
                  <a:pt x="372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067800" y="344805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2410C"/>
                </a:solidFill>
                <a:latin typeface="Microsoft YaHei"/>
                <a:ea typeface="Microsoft YaHei"/>
              </a:rPr>
              <a:t>激活显存：通道只乘一次方</a:t>
            </a:r>
            <a:endParaRPr/>
          </a:p>
        </p:txBody>
      </p:sp>
      <p:pic>
        <p:nvPicPr>
          <p:cNvPr id="411" name="" descr="M \;\propto\; \sum_{l} c_l s_l^{2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48750" y="3619500"/>
            <a:ext cx="1409700" cy="495300"/>
          </a:xfrm>
          <a:prstGeom prst="rect"/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553450" y="4143375"/>
            <a:ext cx="24003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反传需缓存每级特征图，容量是通道数乘像素数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66750" y="4505325"/>
            <a:ext cx="10858500" cy="5715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42950" y="472440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9A3412"/>
                </a:solidFill>
                <a:latin typeface="Microsoft YaHei"/>
                <a:ea typeface="Microsoft YaHei"/>
              </a:rPr>
              <a:t>令</a:t>
            </a:r>
            <a:r>
              <a:rPr lang="en-US" sz="938" b="1">
                <a:solidFill>
                  <a:srgbClr val="9A3412"/>
                </a:solidFill>
                <a:latin typeface="Microsoft YaHei"/>
                <a:ea typeface="Microsoft YaHei"/>
              </a:rPr>
              <a:t xml:space="preserve"> c_l · s_l = </a:t>
            </a:r>
            <a:r>
              <a:rPr lang="zh-CN" sz="938" b="1">
                <a:solidFill>
                  <a:srgbClr val="9A3412"/>
                </a:solidFill>
                <a:latin typeface="Microsoft YaHei"/>
                <a:ea typeface="Microsoft YaHei"/>
              </a:rPr>
              <a:t>常数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2114550" y="4581525"/>
            <a:ext cx="82010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对比两式：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P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里通道是平方，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F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里通道与边长同阶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。要让参数最省、算力不塌，就让通道加倍恰好抵掉边长减半，乘积恒定，于是每级算力均分。这就是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1:2:4:4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的来源，也是判据。</a:t>
            </a:r>
            <a:endParaRPr/>
          </a:p>
        </p:txBody>
      </p:sp>
      <p:pic>
        <p:nvPicPr>
          <p:cNvPr id="416" name="" descr="c_l \;\propto\; 1 / s_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448925" y="4676775"/>
            <a:ext cx="1000125" cy="228600"/>
          </a:xfrm>
          <a:prstGeom prst="rect"/>
          <a:ln/>
        </p:spPr>
      </p:pic>
      <p:sp>
        <p:nvSpPr>
          <p:cNvPr id="417" name=""/>
          <p:cNvSpPr/>
          <p:nvPr/>
        </p:nvSpPr>
        <p:spPr>
          <a:xfrm rot="0" flipH="0" flipV="0">
            <a:off x="704850" y="5133975"/>
            <a:ext cx="3486150" cy="1228725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704850" y="5133975"/>
            <a:ext cx="3486150" cy="1228725"/>
          </a:xfrm>
          <a:custGeom>
            <a:pathLst>
              <a:path w="366" h="129">
                <a:moveTo>
                  <a:pt x="4" y="129"/>
                </a:moveTo>
                <a:cubicBezTo>
                  <a:pt x="2" y="129"/>
                  <a:pt x="0" y="127"/>
                  <a:pt x="0" y="12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9"/>
                </a:ln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00100" y="522922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原形状</a:t>
            </a: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 xml:space="preserve"> 1128 = (1,1,2,8)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00100" y="5410200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4748B"/>
                </a:solidFill>
                <a:latin typeface="Microsoft YaHei"/>
                <a:ea typeface="Microsoft YaHei"/>
              </a:rPr>
              <a:t>通道</a:t>
            </a:r>
            <a:r>
              <a:rPr lang="en-US" sz="938">
                <a:solidFill>
                  <a:srgbClr val="64748B"/>
                </a:solidFill>
                <a:latin typeface="Microsoft YaHei"/>
                <a:ea typeface="Microsoft YaHei"/>
              </a:rPr>
              <a:t xml:space="preserve"> 64 / 64 / 128 / 512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00100" y="5591175"/>
            <a:ext cx="32575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边长最小的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16²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一级却塞进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512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通道，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c·s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在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8192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4096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之间跳动，参数被最宽一级独占。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00100" y="604837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参数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 xml:space="preserve"> 36.89M</a:t>
            </a:r>
            <a:r>
              <a:rPr lang="zh-CN" sz="938">
                <a:solidFill>
                  <a:srgbClr val="475569"/>
                </a:solidFill>
                <a:latin typeface="Microsoft YaHei"/>
                <a:ea typeface="Microsoft YaHei"/>
              </a:rPr>
              <a:t>　</a:t>
            </a:r>
            <a:r>
              <a:rPr lang="en-US" sz="938">
                <a:solidFill>
                  <a:srgbClr val="475569"/>
                </a:solidFill>
                <a:latin typeface="Microsoft YaHei"/>
                <a:ea typeface="Microsoft YaHei"/>
              </a:rPr>
              <a:t>FLOPs 9.42 G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4286250" y="5133975"/>
            <a:ext cx="3486150" cy="1228725"/>
          </a:xfrm>
          <a:prstGeom prst="roundRect">
            <a:avLst>
              <a:gd name="adj" fmla="val 3101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4286250" y="5133975"/>
            <a:ext cx="3486150" cy="1228725"/>
          </a:xfrm>
          <a:custGeom>
            <a:pathLst>
              <a:path w="366" h="129">
                <a:moveTo>
                  <a:pt x="4" y="129"/>
                </a:moveTo>
                <a:cubicBezTo>
                  <a:pt x="2" y="129"/>
                  <a:pt x="0" y="127"/>
                  <a:pt x="0" y="12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9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381500" y="522922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5E59"/>
                </a:solidFill>
                <a:latin typeface="Microsoft YaHei"/>
                <a:ea typeface="Microsoft YaHei"/>
              </a:rPr>
              <a:t>推出</a:t>
            </a:r>
            <a:r>
              <a:rPr lang="en-US" sz="900" b="1">
                <a:solidFill>
                  <a:srgbClr val="115E59"/>
                </a:solidFill>
                <a:latin typeface="Microsoft YaHei"/>
                <a:ea typeface="Microsoft YaHei"/>
              </a:rPr>
              <a:t xml:space="preserve"> 1244 = (1,2,4,4)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4381500" y="5410200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0F766E"/>
                </a:solidFill>
                <a:latin typeface="Microsoft YaHei"/>
                <a:ea typeface="Microsoft YaHei"/>
              </a:rPr>
              <a:t>通道</a:t>
            </a:r>
            <a:r>
              <a:rPr lang="en-US" sz="938">
                <a:solidFill>
                  <a:srgbClr val="0F766E"/>
                </a:solidFill>
                <a:latin typeface="Microsoft YaHei"/>
                <a:ea typeface="Microsoft YaHei"/>
              </a:rPr>
              <a:t xml:space="preserve"> 64 / 128 / 256 / 256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381500" y="5591175"/>
            <a:ext cx="32575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前三级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c·s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恒等于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8192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，每级算力各占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30.8%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，参数减半而容量不丢。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381500" y="6048375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>
                <a:solidFill>
                  <a:srgbClr val="115E59"/>
                </a:solidFill>
                <a:latin typeface="Microsoft YaHei"/>
                <a:ea typeface="Microsoft YaHei"/>
              </a:rPr>
              <a:t>参数</a:t>
            </a:r>
            <a:r>
              <a:rPr lang="en-US" sz="938">
                <a:solidFill>
                  <a:srgbClr val="115E59"/>
                </a:solidFill>
                <a:latin typeface="Microsoft YaHei"/>
                <a:ea typeface="Microsoft YaHei"/>
              </a:rPr>
              <a:t xml:space="preserve"> 18.67M</a:t>
            </a:r>
            <a:r>
              <a:rPr lang="zh-CN" sz="938">
                <a:solidFill>
                  <a:srgbClr val="115E59"/>
                </a:solidFill>
                <a:latin typeface="Microsoft YaHei"/>
                <a:ea typeface="Microsoft YaHei"/>
              </a:rPr>
              <a:t>　</a:t>
            </a:r>
            <a:r>
              <a:rPr lang="en-US" sz="938">
                <a:solidFill>
                  <a:srgbClr val="115E59"/>
                </a:solidFill>
                <a:latin typeface="Microsoft YaHei"/>
                <a:ea typeface="Microsoft YaHei"/>
              </a:rPr>
              <a:t>FLOPs 11.41 G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7867650" y="5133975"/>
            <a:ext cx="3695700" cy="1228725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7867650" y="5133975"/>
            <a:ext cx="3695700" cy="1228725"/>
          </a:xfrm>
          <a:custGeom>
            <a:pathLst>
              <a:path w="388" h="129">
                <a:moveTo>
                  <a:pt x="4" y="129"/>
                </a:moveTo>
                <a:cubicBezTo>
                  <a:pt x="2" y="129"/>
                  <a:pt x="0" y="127"/>
                  <a:pt x="0" y="12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9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962900" y="5229225"/>
            <a:ext cx="3467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B45309"/>
                </a:solidFill>
                <a:latin typeface="Microsoft YaHei"/>
                <a:ea typeface="Microsoft YaHei"/>
              </a:rPr>
              <a:t>通道数换表达力，但会饱和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962900" y="5410200"/>
            <a:ext cx="34671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通道越宽，每级能同时表达的方向越多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这是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5M → 10.7M → 18.7M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一路涨点的来源。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962900" y="5867400"/>
            <a:ext cx="346710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但拐点在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10M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之后：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18.7M → 72.5M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仅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+0.048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7962900" y="6115050"/>
            <a:ext cx="3467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B45309"/>
                </a:solidFill>
                <a:latin typeface="Microsoft YaHei"/>
                <a:ea typeface="Microsoft YaHei"/>
              </a:rPr>
              <a:t>按公式定形状即可，不盲目加宽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66750" y="6477000"/>
            <a:ext cx="10858500" cy="238125"/>
          </a:xfrm>
          <a:custGeom>
            <a:pathLst>
              <a:path w="1140" h="25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66750" y="6562725"/>
            <a:ext cx="774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4090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峰值取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bf16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密集算力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165.2 TFLOPS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，带宽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1008 GB/s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；公式按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diffusion/unet.py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3×3 ResBlock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写；利用率口径为前向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+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反向，详见第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09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1134725" y="6562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38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20, left: 70, right: 70, flexDirection: 'column', gap: 3 }}&gt;&#10;    &lt;Text style={{ fontSize: 13, color: '#1E4FA8', letterSpacing: 4, fontWeight: 'bold' }}&gt;04 硬件基础 · 算力利用率与基建事实&lt;/Text&gt;&#10;    &lt;Text style={{ fontSize: 26, color: '#0E3F8C', fontWeight: 'bold' }}&gt;每个骨干的真实算力利用率：绑住效率的是卷积 GEMM 的形状，不是显存带宽&lt;/Text&gt;&#10;    &lt;Text style={{ fontSize: 12.5, color: '#4A5568' }}&gt;4090 实测，统一 &lt;b&gt;前向 + 反向&lt;/b&gt;口径（只算前向会把利用率系统性低估约 3 倍）；同表内数字可直接互比&lt;/Text&gt;&#10;  &lt;/Box&gt;&#10;&#10;  {/* MFU 大表 */}&#10;  &lt;Box style={{ position: 'absolute', top: 88, left: 70, right: 70, height: 344, background: '#F7F9FC', border: '1px solid #D6DCE5', borderRadius: 4, padding: 10, flexDirection: 'column', gap: 5 }}&gt;&#10;    &lt;Text style={{ fontSize: 14, color: '#0E3F8C', fontWeight: 'bold' }}&gt;MFU 总表（前向 + 反向口径，RTX 4090 实测；峰值 165.2 TFLOPS bf16 dense）&lt;/Text&gt;&#10;    &lt;Table&#10;      style={{ width: '100%', height: 302 }}&#10;      defaultTextStyle={{ fontSize: 12, textAlign: 'center', color: '#1A2230' }}&#10;      defaultCellStyle={{ border: { left: { width: 1, color: '#D6DCE5' }, right: { width: 1, color: '#D6DCE5' }, top: { width: 1, color: '#D6DCE5' }, bottom: { width: 1, color: '#D6DCE5' } }, padding: 4 }}&#10;      cells={[&#10;        [&#10;          { text: '骨干', textStyle: { bold: true, color: '#FFFFFF', fontSize: 12, textAlign: 'left' }, cellStyle: { background: { color: '#0E3F8C' } } },&#10;          { text: '参数', textStyle: { bold: true, color: '#FFFFFF', fontSize: 12 }, cellStyle: { background: { color: '#0E3F8C' } } },&#10;          { text: 'batch', textStyle: { bold: true, color: '#FFFFFF', fontSize: 12 }, cellStyle: { background: { color: '#0E3F8C' } } },&#10;          { text: 'GFLOP/图', textStyle: { bold: true, color: '#FFFFFF', fontSize: 12 }, cellStyle: { background: { color: '#0E3F8C' } } },&#10;          { text: 's/步', textStyle: { bold: true, color: '#FFFFFF', fontSize: 12 }, cellStyle: { background: { color: '#0E3F8C' } } },&#10;          { text: '算力', textStyle: { bold: true, color: '#FFFFFF', fontSize: 12 }, cellStyle: { background: { color: '#0E3F8C' } } },&#10;          { text: 'MFU', textStyle: { bold: true, color: '#FFFFFF', fontSize: 12 }, cellStyle: { background: { color: '#0E3F8C' } } },&#10;        ],&#10;        [&#10;          { text: 'U-Net b32（不下采样）', textStyle: { fontSize: 12, textAlign: 'left' }, cellStyle: { background: { color: '#FFFFFF' } } },&#10;          { text: '4.99M', textStyle: { fontSize: 12 }, cellStyle: { background: { color: '#FFFFFF' } } },&#10;          { text: '64', textStyle: { fontSize: 12 }, cellStyle: { background: { color: '#FFFFFF' } } },&#10;          { text: '37.2', textStyle: { fontSize: 12 }, cellStyle: { background: { color: '#FFFFFF' } } },&#10;          { text: '0.156', textStyle: { fontSize: 12 }, cellStyle: { background: { color: '#FFFFFF' } } },&#10;          { text: '15.3', textStyle: { fontSize: 12 }, cellStyle: { background: { color: '#FFFFFF' } } },&#10;          { text: '9.3%', textStyle: { fontSize: 12, color: '#64748B' }, cellStyle: { background: { color: '#FFFFFF' } } },&#10;        ],&#10;        [&#10;          { text: 'U-Net b40', textStyle: { fontSize: 12, textAlign: 'left' }, cellStyle: { background: { color: '#FFFFFF' } } },&#10;          { text: '7.58M', textStyle: { fontSize: 12 }, cellStyle: { background: { color: '#FFFFFF' } } },&#10;          { text: '64', textStyle: { fontSize: 12 }, cellStyle: { background: { color: '#FFFFFF' } } },&#10;          { text: '57.0', textStyle: { fontSize: 12 }, cellStyle: { background: { color: '#FFFFFF' } } },&#10;          { text: '0.193', textStyle: { fontSize: 12 }, cellStyle: { background: { color: '#FFFFFF' } } },&#10;          { text: '18.9', textStyle: { fontSize: 12 }, cellStyle: { background: { color: '#FFFFFF' } } },&#10;          { text: '11.5%', textStyle: { fontSize: 12, color: '#64748B' }, cellStyle: { background: { color: '#FFFFFF' } } },&#10;        ],&#10;        [&#10;          { text: 'U-Net b48', textStyle: { fontSize: 12, textAlign: 'left' }, cellStyle: { background: { color: '#FFFFFF' } } },&#10;          { text: '10.73M', textStyle: { fontSize: 12 }, cellStyle: { background: { color: '#FFFFFF' } } },&#10;          { text: '64', textStyle: { fontSize: 12 }, cellStyle: { background: { color: '#FFFFFF' } } },&#10;          { text: '81.0', textStyle: { fontSize: 12 }, cellStyle: { background: { color: '#FFFFFF' } } },&#10;          { text: '0.223', textStyle: { fontSize: 12 }, cellStyle: { background: { color: '#FFFFFF' } } },&#10;          { text: '23.3', textStyle: { fontSize: 12 }, cellStyle: { background: { color: '#FFFFFF' } } },&#10;          { text: '14.1%', textStyle: { fontSize: 12, color: '#64748B' }, cellStyle: { background: { color: '#FFFFFF' } } },&#10;        ],&#10;        [&#10;          { text: 'U-Net b64（交付骨干）', textStyle: { fontSize: 12, textAlign: 'left', bold: true, color: '#0E3F8C' }, cellStyle: { background: { color: '#EAF1FB' } } },&#10;          { text: '18.67M', textStyle: { fontSize: 12, bold: true }, cellStyle: { background: { color: '#EAF1FB' } } },&#10;          { text: '64', textStyle: { fontSize: 12, bold: true }, cellStyle: { background: { color: '#EAF1FB' } } },&#10;          { text: '141.6', textStyle: { fontSize: 12, bold: true }, cellStyle: { background: { color: '#EAF1FB' } } },&#10;          { text: '0.274', textStyle: { fontSize: 12, bold: true }, cellStyle: { background: { color: '#EAF1FB' } } },&#10;          { text: '33.1', textStyle: { fontSize: 12, bold: true }, cellStyle: { background: { color: '#EAF1FB' } } },&#10;          { text: '20.0%', textStyle: { fontSize: 13, bold: true, color: '#0E3F8C' }, cellStyle: { background: { color: '#EAF1FB' } } },&#10;        ],&#10;        [&#10;          { text: 'U-Net b128', textStyle: { fontSize: 12, textAlign: 'left', bold: true }, cellStyle: { background: { color: '#FFFFFF' } } },&#10;          { text: '72.53M', textStyle: { fontSize: 12, bold: true }, cellStyle: { background: { color: '#FFFFFF' } } },&#10;          { text: '32', textStyle: { fontSize: 12 }, cellStyle: { background: { color: '#FFFFFF' } } },&#10;          { text: '551.8', textStyle: { fontSize: 12, bold: true }, cellStyle: { background: { color: '#FFFFFF' } } },&#10;          { text: '0.308', textStyle: { fontSize: 12 }, cellStyle: { background: { color: '#FFFFFF' } } },&#10;          { text: '57.4', textStyle: { fontSize: 12, bold: true }, cellStyle: { background: { color: '#FFFFFF' } } },&#10;          { text: '34.7%', textStyle: { fontSize: 13, bold: true, color: '#15803D' }, cellStyle: { background: { color: '#FFFFFF' } } },&#10;        ],&#10;        [&#10;          { text: 'DiT-S（全文注意力）', textStyle: { fontSize: 12, textAlign: 'left' }, cellStyle: { background: { color: '#FFFFFF' } } },&#10;          { text: '34.0M', textStyle: { fontSize: 12 }, cellStyle: { background: { color: '#FFFFFF' } } },&#10;          { text: '16', textStyle: { fontSize: 12 }, cellStyle: { background: { color: '#FFFFFF' } } },&#10;          { text: '1604.6', textStyle: { fontSize: 12, bold: true }, cellStyle: { background: { color: '#FFFFFF' } } },&#10;          { text: '0.505', textStyle: { fontSize: 12 }, cellStyle: { background: { color: '#FFFFFF' } } },&#10;          { text: '50.8', textStyle: { fontSize: 12 }, cellStyle: { background: { color: '#FFFFFF' } } },&#10;          { text: '30.8%', textStyle: { fontSize: 12.5, bold: true }, cellStyle: { background: { color: '#FFFFFF' } } },&#10;        ],&#10;        [&#10;          { text: 'Mamba 官核（融合 CUDA）', textStyle: { fontSize: 12, textAlign: 'left' }, cellStyle: { background: { color: '#FFF4E6' } } },&#10;          { text: '2.75M', textStyle: { fontSize: 12 }, cellStyle: { background: { color: '#FFF4E6' } } },&#10;          { text: '16', textStyle: { fontSize: 12 }, cellStyle: { background: { color: '#FFF4E6' } } },&#10;          { text: '190', textStyle: { fontSize: 12 }, cellStyle: { background: { color: '#FFF4E6' } } },&#10;          { text: '0.518', textStyle: { fontSize: 12 }, cellStyle: { background: { color: '#FFF4E6' } } },&#10;          { text: '≥5.9', textStyle: { fontSize: 12 }, cellStyle: { background: { color: '#FFF4E6' } } },&#10;          { text: '≥3.6%', textStyle: { fontSize: 12.5, bold: true, color: '#B91C1C' }, cellStyle: { background: { color: '#FFF4E6' } } },&#10;        ],&#10;        [&#10;          { text: 'Mamba 纯 PyTorch 回退', textStyle: { fontSize: 12, textAlign: 'left' }, cellStyle: { background: { color: '#FFF4E6' } } },&#10;          { text: '2.75M', textStyle: { fontSize: 12 }, cellStyle: { background: { color: '#FFF4E6' } } },&#10;          { text: '1', textStyle: { fontSize: 12, bold: true, color: '#B91C1C' }, cellStyle: { background: { color: '#FFF4E6' } } },&#10;          { text: '314', textStyle: { fontSize: 12 }, cellStyle: { background: { color: '#FFF4E6' } } },&#10;          { text: '2.51', textStyle: { fontSize: 12 }, cellStyle: { background: { color: '#FFF4E6' } } },&#10;          { text: '0.1', textStyle: { fontSize: 12 }, cellStyle: { background: { color: '#FFF4E6' } } },&#10;          { text: '~0.1%', textStyle: { fontSize: 12.5, bold: true, color: '#B91C1C' }, cellStyle: { background: { color: '#FFF4E6' } } },&#10;        ],&#10;      ]}&#10;    /&gt;&#10;  &lt;/Box&gt;&#10;&#10;  {/* 三条结论 */}&#10;  &lt;Box style={{ position: 'absolute', top: 444, left: 70, right: 70, height: 200, flexDirection: 'row', gap: 10 }}&gt;&#10;&#10;    &lt;Box style={{ flex: 1, background: '#EAF1FB', border: '1px solid #C7D9F2', borderLeft: '4px solid #0E3F8C', borderRadius: 4, padding: 12, flexDirection: 'column', gap: 6 }}&gt;&#10;      &lt;Text style={{ fontSize: 14, color: '#0E3F8C', fontWeight: 'bold' }}&gt;利用率随通道数单调上升&lt;/Text&gt;&#10;      &lt;Text style={{ fontSize: 12.5, color: '#1A2230', lineHeight: 1.5 }}&gt;b32 → b128：&lt;b&gt;9.3% → 34.7%&lt;/b&gt;，三倍多的差距，而模型的参数与计算量比值几乎不变。&lt;/Text&gt;&#10;      &lt;Text style={{ fontSize: 12.5, color: '#1A2230', lineHeight: 1.5 }}&gt;原因不在算法而在卷积本身：&lt;b&gt;通道 C=32 时卷积 GEMM 的 K 维只有 32&lt;/b&gt;，张量核喂不饱，算力从 33 掉到 15 TFLOPS。省下 FLOPs 的收益被执行效率的损失吃掉，&lt;b&gt;收窄通道反而慢 2.6 倍&lt;/b&gt;。&lt;/Text&gt;&#10;    &lt;/Box&gt;&#10;&#10;    &lt;Box style={{ flex: 1, background: '#FFFFFF', border: '1px solid #E2E8F0', borderLeft: '4px solid #334155', borderRadius: 4, padding: 12, flexDirection: 'column', gap: 6 }}&gt;&#10;      &lt;Text style={{ fontSize: 14, color: '#1E293B', fontWeight: 'bold' }}&gt;带宽不是瓶颈，形状才是&lt;/Text&gt;&#10;      &lt;Text style={{ fontSize: 12.5, color: '#1A2230', lineHeight: 1.5 }}&gt;两个骨干的模型级算术强度都&lt;b&gt;远高于拐点 164 FLOP/byte&lt;/b&gt;（DiT 1962、U-Net 12422），按带宽判据谁都不该被卡住。&lt;/Text&gt;&#10;      &lt;Text style={{ fontSize: 12.5, color: '#1A2230', lineHeight: 1.5 }}&gt;真正绑住 U-Net 的是 &lt;b&gt;conv GEMM 的 K 维与 128 通道对齐&lt;/b&gt;：对齐后同卡算力 1.8×。→ 调 batch、拉存算比都无效，只有改架构把 FLOPs 挪到更宽更低的分辨率才有效。&lt;/Text&gt;&#10;    &lt;/Box&gt;&#10;&#10;    &lt;Box style={{ flex: 1, background: '#FFF4E6', border: '1px solid #FDE3B8', borderLeft: '4px solid #B45309', borderRadius: 4, padding: 12, flexDirection: 'column', gap: 6 }}&gt;&#10;      &lt;Text style={{ fontSize: 14, color: '#92400E', fontWeight: 'bold' }}&gt;高利用率 ≠ 高效率&lt;/Text&gt;&#10;      &lt;Text style={{ fontSize: 12.5, color: '#1A2230', lineHeight: 1.5 }}&gt;DiT-S 利用率 30.8% 略高于 U-Net 的 20%，但它把 &lt;b&gt;11.3 倍于 U-Net 的 FLOPs&lt;/b&gt;（每图 1604.6 vs 141.6 GFLOP）花在占其 64% 的全分辨率平方注意力上。&lt;/Text&gt;&#10;      &lt;Text style={{ fontSize: 12.5, color: '#1A2230', lineHeight: 1.5 }}&gt;同口径实测吞吐：&lt;b&gt;U-Net 233 vs DiT 31.7 图/秒 = 7.4×&lt;/b&gt;。→ 利用率是分母的艺术，挪走 FLOPs 才是真收益。&lt;/Text&gt;&#10;    &lt;/Box&gt;&#10;&#10;  &lt;/Box&gt;&#10;&#10;  &lt;Box style={{ position: 'absolute', bottom: 14, left: 70, right: 70, flexDirection: 'row', justifyContent: 'space-between', borderTop: '1px solid #D6DCE5', paddingTop: 8 }}&gt;&#10;    &lt;Text style={{ fontSize: 12.5, color: '#8B97A8' }}&gt;口径：一个完整训练步（前向 + 反向 + 优化器步），bf16 autocast，FlopCounterMode 计数；Mamba 官核为下界（融合扫描核自身 FLOPs 未计入）&lt;/Text&gt;&#10;    &lt;Text style={{ fontSize: 12, color: '#4A5568', fontWeight: 'bold' }}&gt;09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66750" y="19050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硬件基础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算力利用率与基建事实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每个骨干的真实算力利用率：绑住效率的是卷积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GEMM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的形状，不是显存带宽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66750" y="704850"/>
            <a:ext cx="1085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4090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实测，统一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前向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反向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口径（只算前向会把利用率系统性低估约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倍）；同表内数字可直接互比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66750" y="838200"/>
            <a:ext cx="10858500" cy="3276600"/>
          </a:xfrm>
          <a:prstGeom prst="roundRect">
            <a:avLst>
              <a:gd name="adj" fmla="val 11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62000" y="93345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MFU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总表（前向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反向口径，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RTX 4090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实测；峰值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165.2 TFLOPS bf16 dense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graphicFrame>
        <p:nvGraphicFramePr>
          <p:cNvPr id="446" name=""/>
          <p:cNvGraphicFramePr/>
          <p:nvPr/>
        </p:nvGraphicFramePr>
        <p:xfrm rot="0" flipH="0" flipV="0">
          <a:off x="762000" y="1143000"/>
          <a:ext cx="10668000" cy="2876550"/>
        </p:xfrm>
        <a:graphic>
          <a:graphicData uri="http://schemas.openxmlformats.org/drawingml/2006/table">
            <a:tbl>
              <a:tblGrid>
                <a:gridCol w="3927849">
                  <a:extLst>
                    <a:ext uri="{9D8B030D-6E8A-4147-A177-3AD203B41FA5}">
                      <a16:colId val="1"/>
                    </a:ext>
                  </a:extLst>
                </a:gridCol>
                <a:gridCol w="1232726">
                  <a:extLst>
                    <a:ext uri="{9D8B030D-6E8A-4147-A177-3AD203B41FA5}">
                      <a16:colId val="2"/>
                    </a:ext>
                  </a:extLst>
                </a:gridCol>
                <a:gridCol w="998367">
                  <a:extLst>
                    <a:ext uri="{9D8B030D-6E8A-4147-A177-3AD203B41FA5}">
                      <a16:colId val="3"/>
                    </a:ext>
                  </a:extLst>
                </a:gridCol>
                <a:gridCol w="1560828">
                  <a:extLst>
                    <a:ext uri="{9D8B030D-6E8A-4147-A177-3AD203B41FA5}">
                      <a16:colId val="4"/>
                    </a:ext>
                  </a:extLst>
                </a:gridCol>
                <a:gridCol w="998367">
                  <a:extLst>
                    <a:ext uri="{9D8B030D-6E8A-4147-A177-3AD203B41FA5}">
                      <a16:colId val="5"/>
                    </a:ext>
                  </a:extLst>
                </a:gridCol>
                <a:gridCol w="834316">
                  <a:extLst>
                    <a:ext uri="{9D8B030D-6E8A-4147-A177-3AD203B41FA5}">
                      <a16:colId val="6"/>
                    </a:ext>
                  </a:extLst>
                </a:gridCol>
                <a:gridCol w="1115547">
                  <a:extLst>
                    <a:ext uri="{9D8B030D-6E8A-4147-A177-3AD203B41FA5}">
                      <a16:colId val="7"/>
                    </a:ext>
                  </a:extLst>
                </a:gridCol>
              </a:tblGrid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骨干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batch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GFLOP/图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s/步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算力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MFU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U-Net b32（不下采样）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4.99M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37.2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0.156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15.3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</a:rPr>
                        <a:t>9.3%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U-Net b40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7.58M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57.0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0.193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18.9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</a:rPr>
                        <a:t>11.5%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U-Net b48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10.73M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81.0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0.223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23.3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</a:rPr>
                        <a:t>14.1%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855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U-Net b64（交付骨干）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18.67M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141.6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0.274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20.0%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2855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U-Net b128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72.53M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551.8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0.308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57.4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5803D"/>
                          </a:solidFill>
                          <a:latin typeface="Microsoft YaHei"/>
                          <a:ea typeface="Microsoft YaHei"/>
                        </a:rPr>
                        <a:t>34.7%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DiT-S（全文注意力）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34.0M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1604.6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0.505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50.8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30.8%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Mamba 官核（融合 CUDA）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2.75M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0.518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≥5.9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≥3.6%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17064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Mamba 纯 PyTorch 回退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2.75M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314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2.51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~0.1%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447" name=""/>
          <p:cNvSpPr/>
          <p:nvPr/>
        </p:nvSpPr>
        <p:spPr>
          <a:xfrm rot="0" flipH="0" flipV="0">
            <a:off x="704850" y="4229100"/>
            <a:ext cx="3552825" cy="1905000"/>
          </a:xfrm>
          <a:prstGeom prst="roundRect">
            <a:avLst>
              <a:gd name="adj" fmla="val 2000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704850" y="4229100"/>
            <a:ext cx="3552825" cy="1905000"/>
          </a:xfrm>
          <a:custGeom>
            <a:pathLst>
              <a:path w="373" h="200">
                <a:moveTo>
                  <a:pt x="4" y="200"/>
                </a:moveTo>
                <a:cubicBezTo>
                  <a:pt x="2" y="200"/>
                  <a:pt x="0" y="198"/>
                  <a:pt x="0" y="19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19150" y="4343400"/>
            <a:ext cx="3286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利用率随通道数单调上升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19150" y="4562475"/>
            <a:ext cx="32861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b32 → b128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9.3% → 34.7%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，三倍多的差距，而模型的参数与计算量比值几乎不变。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19150" y="5048250"/>
            <a:ext cx="32861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原因不在算法而在卷积本身：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通道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C=32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时卷积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GEMM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维只有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32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，张量核喂不饱，算力从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33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掉到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15 TFLOPS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。省下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FLOPs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的收益被执行效率的损失吃掉，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收窄通道反而慢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2.6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倍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352925" y="4229100"/>
            <a:ext cx="3562350" cy="1905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4352925" y="4229100"/>
            <a:ext cx="3562350" cy="1905000"/>
          </a:xfrm>
          <a:custGeom>
            <a:pathLst>
              <a:path w="374" h="200">
                <a:moveTo>
                  <a:pt x="4" y="200"/>
                </a:moveTo>
                <a:cubicBezTo>
                  <a:pt x="2" y="200"/>
                  <a:pt x="0" y="198"/>
                  <a:pt x="0" y="19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0"/>
                </a:lnTo>
                <a:close/>
              </a:path>
            </a:pathLst>
          </a:custGeom>
          <a:solidFill>
            <a:srgbClr val="334155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467225" y="434340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Microsoft YaHei"/>
                <a:ea typeface="Microsoft YaHei"/>
              </a:rPr>
              <a:t>带宽不是瓶颈，形状才是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467225" y="4562475"/>
            <a:ext cx="32956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两个骨干的模型级算术强度都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远高于拐点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164 FLOP/byte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DiT 1962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U-Net 12422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），按带宽判据谁都不该被卡住。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4467225" y="5267325"/>
            <a:ext cx="32956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真正绑住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的是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conv GEMM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维与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128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通道对齐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：对齐后同卡算力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1.8×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。→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调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batch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、拉存算比都无效，只有改架构把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FLOPs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挪到更宽更低的分辨率才有效。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8010525" y="4229100"/>
            <a:ext cx="3552825" cy="1905000"/>
          </a:xfrm>
          <a:prstGeom prst="roundRect">
            <a:avLst>
              <a:gd name="adj" fmla="val 2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8010525" y="4229100"/>
            <a:ext cx="3552825" cy="1905000"/>
          </a:xfrm>
          <a:custGeom>
            <a:pathLst>
              <a:path w="373" h="200">
                <a:moveTo>
                  <a:pt x="4" y="200"/>
                </a:moveTo>
                <a:cubicBezTo>
                  <a:pt x="2" y="200"/>
                  <a:pt x="0" y="198"/>
                  <a:pt x="0" y="19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00"/>
                </a:lnTo>
                <a:close/>
              </a:path>
            </a:pathLst>
          </a:custGeom>
          <a:solidFill>
            <a:srgbClr val="B45309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8124825" y="4343400"/>
            <a:ext cx="3286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92400E"/>
                </a:solidFill>
                <a:latin typeface="Microsoft YaHei"/>
                <a:ea typeface="Microsoft YaHei"/>
              </a:rPr>
              <a:t>高利用率</a:t>
            </a:r>
            <a:r>
              <a:rPr lang="en-US" sz="1050" b="1">
                <a:solidFill>
                  <a:srgbClr val="92400E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050" b="1">
                <a:solidFill>
                  <a:srgbClr val="92400E"/>
                </a:solidFill>
                <a:latin typeface="Microsoft YaHei"/>
                <a:ea typeface="Microsoft YaHei"/>
              </a:rPr>
              <a:t>高效率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124825" y="4562475"/>
            <a:ext cx="32861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DiT-S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利用率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30.8%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略高于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20%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，但它把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11.3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倍于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FLOPs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（每图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1604.6 vs 141.6 GFLOP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）花在占其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64%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的全分辨率平方注意力上。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124825" y="5267325"/>
            <a:ext cx="32861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同口径实测吞吐：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U-Net 233 vs DiT 31.7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图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= 7.4×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。→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利用率是分母的艺术，挪走</a:t>
            </a:r>
            <a:r>
              <a:rPr lang="en-US" sz="938">
                <a:solidFill>
                  <a:srgbClr val="1A2230"/>
                </a:solidFill>
                <a:latin typeface="Microsoft YaHei"/>
                <a:ea typeface="Microsoft YaHei"/>
              </a:rPr>
              <a:t xml:space="preserve"> FLOPs </a:t>
            </a:r>
            <a:r>
              <a:rPr lang="zh-CN" sz="938">
                <a:solidFill>
                  <a:srgbClr val="1A2230"/>
                </a:solidFill>
                <a:latin typeface="Microsoft YaHei"/>
                <a:ea typeface="Microsoft YaHei"/>
              </a:rPr>
              <a:t>才是真收益。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66750" y="6496050"/>
            <a:ext cx="10858500" cy="238125"/>
          </a:xfrm>
          <a:custGeom>
            <a:pathLst>
              <a:path w="1140" h="25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66750" y="6581775"/>
            <a:ext cx="805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口径：一个完整训练步（前向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反向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优化器步），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>bf16 autocast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FlopCounterMode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计数；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Mamba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官核为下界（融合扫描核自身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FLOPs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未计入）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1134725" y="65817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5" name="" descr="&lt;Slide style={{ width: '1280px', height: '720px', padding: 0, background: '#FFFFFF' }}&gt;&#10;  &lt;Box style={{ position: 'absolute', top: 0, left: 0, right: 0, height: 10, background: '#7F1D1D' }} /&gt;&#10;&#10;  &lt;Box style={{ position: 'absolute', top: 20, left: 70, right: 70, flexDirection: 'column', gap: 3 }}&gt;&#10;    &lt;Text style={{ fontSize: 13, color: '#B91C1C', letterSpacing: 4, fontWeight: 'bold' }}&gt;05 实验 · 负面结果 · 什么被证伪了&lt;/Text&gt;&#10;    &lt;Text style={{ fontSize: 26, color: '#1E293B', fontWeight: 'bold' }}&gt;Mamba Out! 指标没打赢，效率也没打赢 —— 8 个臂、10.3 小时，一无所获&lt;/Text&gt;&#10;    &lt;Text style={{ fontSize: 12.5, color: '#4A5568' }}&gt;官方 100 对口径。先把两条战线都摆出来：&lt;b style={{ color: '#B91C1C' }}&gt;质量上等预算输 2.28 dB，工程上利用率只有 U-Net 的五分之一&lt;/b&gt;&lt;/Text&gt;&#10;  &lt;/Box&gt;&#10;&#10;  {/* 主区 */}&#10;  &lt;Box style={{ position: 'absolute', top: 90, left: 70, right: 70, height: 452, flexDirection: 'row', gap: 12 }}&gt;&#10;&#10;    {/* 左：矩阵表 */}&#10;    &lt;Box style={{ flex: 1.45, background: '#FEF6F6', border: '1px solid #F3D4D4', borderLeft: '5px solid #B91C1C', borderRadius: 4, padding: 11, flexDirection: 'column', gap: 7 }}&gt;&#10;      &lt;Text style={{ fontSize: 14, color: '#7F1D1D', fontWeight: 'bold' }}&gt;Mamba 矩阵：8 个臂，一个都没打赢同预算的 U-Net&lt;/Text&gt;&#10;      &lt;Table&#10;        style={{ width: '100%', height: 240 }}&#10;        defaultTextStyle={{ fontSize: 12, textAlign: 'center', color: '#1A2230' }}&#10;        defaultCellStyle={{ border: { left: { width: 1, color: '#EAD7D7' }, right: { width: 1, color: '#EAD7D7' }, top: { width: 1, color: '#EAD7D7' }, bottom: { width: 1, color: '#EAD7D7' } }, padding: 3 }}&#10;        cells={[&#10;          [&#10;            { text: '骨干 · 步长', textStyle: { bold: true, color: '#FFFFFF', fontSize: 11.5, textAlign: 'left' }, cellStyle: { background: { color: '#7F1D1D' } } },&#10;            { text: '参数', textStyle: { bold: true, color: '#FFFFFF', fontSize: 11.5 }, cellStyle: { background: { color: '#7F1D1D' } } },&#10;            { text: '样本', textStyle: { bold: true, color: '#FFFFFF', fontSize: 11.5 }, cellStyle: { background: { color: '#7F1D1D' } } },&#10;            { text: 'PSNR-Y', textStyle: { bold: true, color: '#FFFFFF', fontSize: 11.5 }, cellStyle: { background: { color: '#7F1D1D' } } },&#10;            { text: 'SSIM', textStyle: { bold: true, color: '#FFFFFF', fontSize: 11.5 }, cellStyle: { background: { color: '#7F1D1D' } } },&#10;            { text: 'MUSIQ', textStyle: { bold: true, color: '#FFFFFF', fontSize: 11.5 }, cellStyle: { background: { color: '#7F1D1D' } } },&#10;          ],&#10;          [&#10;            { text: 'U-Net · 不下采样', textStyle: { fontSize: 11.5, textAlign: 'left', bold: true }, cellStyle: { background: { color: '#FFFFFF' } } },&#10;            { text: '18.67M', textStyle: { fontSize: 11.5, color: '#334155' }, cellStyle: { background: { color: '#FFFFFF' } } },&#10;            { text: '328k', textStyle: { fontSize: 11.5, bold: true }, cellStyle: { background: { color: '#FFFFFF' } } },&#10;            { text: '33.97', textStyle: { fontSize: 12, bold: true, color: '#15803D' }, cellStyle: { background: { color: '#FFFFFF' } } },&#10;            { text: '0.922', textStyle: { fontSize: 11.5 }, cellStyle: { background: { color: '#FFFFFF' } } },&#10;            { text: '53.9', textStyle: { fontSize: 11.5 }, cellStyle: { background: { color: '#FFFFFF' } } },&#10;          ],&#10;          [&#10;            { text: 'Mamba · 下降采样 · c96', textStyle: { fontSize: 11.5, textAlign: 'left' }, cellStyle: { background: { color: '#FFFFFF' } } },&#10;            { text: '0.43M', textStyle: { fontSize: 11.5, color: '#B91C1C' }, cellStyle: { background: { color: '#FFFFFF' } } },&#10;            { text: '328k', textStyle: { fontSize: 11.5, bold: true }, cellStyle: { background: { color: '#FFFFFF' } } },&#10;            { text: '31.68', textStyle: { fontSize: 12, bold: true, color: '#B91C1C' }, cellStyle: { background: { color: '#FFFFFF' } } },&#10;            { text: '0.891', textStyle: { fontSize: 11.5 }, cellStyle: { background: { color: '#FFFFFF' } } },&#10;            { text: '40.2', textStyle: { fontSize: 11.5 }, cellStyle: { background: { color: '#FFFFFF' } } },&#10;          ],&#10;          [&#10;            { text: 'U-Net · 不下采样', textStyle: { fontSize: 11.5, textAlign: 'left' }, cellStyle: { background: { color: '#FFFFFF' } } },&#10;            { text: '18.67M', textStyle: { fontSize: 11.5, color: '#334155' }, cellStyle: { background: { color: '#FFFFFF' } } },&#10;            { text: '439k', textStyle: { fontSize: 11.5 }, cellStyle: { background: { color: '#FFFFFF' } } },&#10;            { text: '34.04', textStyle: { fontSize: 12, color: '#15803D' }, cellStyle: { background: { color: '#FFFFFF' } } },&#10;            { text: '0.923', textStyle: { fontSize: 11.5 }, cellStyle: { background: { color: '#FFFFFF' } } },&#10;            { text: '54.5', textStyle: { fontSize: 11.5 }, cellStyle: { background: { color: '#FFFFFF' } } },&#10;          ],&#10;          [&#10;            { text: 'Mamba · 下降采样 · c96', textStyle: { fontSize: 11.5, textAlign: 'left' }, cellStyle: { background: { color: '#FFFFFF' } } },&#10;            { text: '0.43M', textStyle: { fontSize: 11.5, color: '#B91C1C' }, cellStyle: { background: { color: '#FFFFFF' } } },&#10;            { text: '1.54M', textStyle: { fontSize: 11.5, bold: true, color: '#B91C1C' }, cellStyle: { background: { color: '#FFFFFF' } } },&#10;            { text: '33.42', textStyle: { fontSize: 12, bold: true, color: '#B91C1C' }, cellStyle: { background: { color: '#FFFFFF' } } },&#10;            { text: '0.913', textStyle: { fontSize: 11.5 }, cellStyle: { background: { color: '#FFFFFF' } } },&#10;            { text: '51.4', textStyle: { fontSize: 11.5 }, cellStyle: { background: { color: '#FFFFFF' } } },&#10;          ],&#10;          [&#10;            { text: 'Mamba · 不下采样 · c96', textStyle: { fontSize: 11.5, textAlign: 'left', bold: true }, cellStyle: { background: { color: '#FFF7ED' } } },&#10;            { text: '0.43M', textStyle: { fontSize: 11.5, color: '#C2410C', bold: true }, cellStyle: { background: { color: '#FFF7ED' } } },&#10;            { text: '269k', textStyle: { fontSize: 11.5, bold: true }, cellStyle: { background: { color: '#FFF7ED' } } },&#10;            { text: '32.57', textStyle: { fontSize: 12, bold: true, color: '#C2410C' }, cellStyle: { background: { color: '#FFF7ED' } } },&#10;            { text: '0.900', textStyle: { fontSize: 11.5 }, cellStyle: { background: { color: '#FFF7ED' } } },&#10;            { text: '43.4', textStyle: { fontSize: 11.5 }, cellStyle: { background: { color: '#FFF7ED' } } },&#10;          ],&#10;        ]}&#10;      /&gt;&#10;      &lt;Text style={{ fontSize: 12, color: '#7F1D1D', lineHeight: 1.42 }}&gt;等预算硬对照（第 1、2 行，样本数逐点对齐）：&lt;b&gt;U-Net 高 2.28 dB&lt;/b&gt;，而它参数是 Mamba 的 &lt;b&gt;43 倍&lt;/b&gt;——Mamba 堆到 4.7 倍样本也只到 33.42，仍低于 U-Net 在 1/4.7 预算下的 33.97。&lt;b&gt;注意三个 Mamba 臂全是 c96（0.43M），比 U-Net 小两个数量级&lt;/b&gt;：参数少不是它输的理由，容量在它身上同样不吃。&lt;/Text&gt;&#10;      &lt;Text style={{ fontSize: 12, color: '#7F1D1D', lineHeight: 1.42 }}&gt;四指标排序与 PSNR 完全一致（SSIM 0.891 vs 0.922、MUSIQ 40.2 vs 53.9）⇒ 不是换了感知风格，是真的学不会。唯一正向：Mamba 内部「不下采样」优于「下降采样」+0.89 dB，但仍差 U-Net 约 1.0 dB。&lt;/Text&gt;&#10;      &lt;Text style={{ fontSize: 12, color: '#B91C1C', fontWeight: 'bold', lineHeight: 1.36 }}&gt;结论：质量与工程两条战线全输，Mamba 线关闭，不再投预算。&lt;/Text&gt;&#10;    &lt;/Box&gt;&#10;&#10;    {/* 右：infra */}&#10;    &lt;Box style={{ flex: 1, flexDirection: 'column', gap: 7 }}&gt;&#10;&#10;      &lt;Box style={{ flex: 1.35, background: '#FFFFFF', border: '1px solid #E2E8F0', borderLeft: '5px solid #334155', borderRadius: 4, padding: 9, flexDirection: 'column', gap: 3 }}&gt;&#10;        &lt;Text style={{ fontSize: 13.5, color: '#1E293B', fontWeight: 'bold' }}&gt;工程侧：利用率只有 U-Net 的五分之一&lt;/Text&gt;&#10;        &lt;Text style={{ fontSize: 12, color: '#1A2230', lineHeight: 1.38 }}&gt;统一「前向 + 反向」口径下，&lt;b style={{ color: '#15803D' }}&gt;U-Net b64 跑到 20.0%&lt;/b&gt;（33.1 TFLOPS），而 &lt;b style={{ color: '#B91C1C' }}&gt;Mamba 官方融合核只有 ≥3.6%&lt;/b&gt;，纯 PyTorch 回退更跌到 &lt;b style={{ color: '#B91C1C' }}&gt;~0.1%&lt;/b&gt; —— 回退路径 batch 超过 1 就 OOM，激活 50.3 GB，&lt;b&gt;根本不可训&lt;/b&gt;。&lt;/Text&gt;&#10;        &lt;Text style={{ fontSize: 12, color: '#1A2230', lineHeight: 1.38 }}&gt;原因是扫描算子的核内递推：每个位置都要把上一步状态&lt;b&gt;读回再写回&lt;/b&gt;，序列越长费字节越多。墙钟上直接体现为 &lt;b style={{ color: '#B91C1C' }}&gt;全程不降采样（序列长 16384）30 秒/步 → 2 万步要 7 天&lt;/b&gt;，单臂不可行；退回降采样（序列 4096）才压到 0.88 秒/步。&lt;/Text&gt;&#10;        &lt;Text style={{ fontSize: 12, color: '#1A2230', lineHeight: 1.38 }}&gt;这与 U-Net 的瓶颈性质完全不同：U-Net 卡在 &lt;b&gt;conv GEMM 的 K 维&lt;/b&gt;，Mamba 卡在&lt;b&gt;扫描的状态流量&lt;/b&gt;。参数量不是原因 —— 矩阵臂只有 &lt;b&gt;0.43M（c96）&lt;/b&gt;、用户规格的 c128×4 也仅 2.75M，都比 U-Net 的 18.67M 小一个到两个数量级，照样跑不动也赢不了。&lt;/Text&gt;&#10;      &lt;/Box&gt;&#10;&#10;      &lt;Box style={{ flex: 1.15, background: '#F0F9FF', border: '1px solid #BAE6FD', borderLeft: '5px solid #0369A1', borderRadius: 4, padding: 9, flexDirection: 'column', gap: 3 }}&gt;&#10;        &lt;Text style={{ fontSize: 13.5, color: '#0C4A6E', fontWeight: 'bold' }}&gt;为它铺的工程量 vs 我们正解的成本&lt;/Text&gt;&#10;        &lt;Text style={{ fontSize: 12, color: '#1A2230', lineHeight: 1.38 }}&gt;为让它能跑：装 nvcc 12.8 + &lt;b&gt;源码编译官方 CUDA 核&lt;/b&gt;，又自写一套&lt;b&gt;纯 PyTorch 精确回退&lt;/b&gt;（实对角递推 &lt;b style={{ color: '#0C4A6E' }}&gt;h_t = P_t·(h_0 + Σ b_j/P_j)&lt;/b&gt;，踩了累积衰减 clamp 冻结记忆、除法反向溢 fp32 变 NaN、bf16 累加丢尾数三个坑，对齐到 rel 1.4e-07）。整套矩阵烧掉 &lt;b&gt;10.3 小时&lt;/b&gt;。&lt;/Text&gt;&#10;        &lt;Text style={{ fontSize: 12, color: '#0C4A6E', lineHeight: 1.38 }}&gt;对照正解：&lt;b&gt;只加一个高频子带损失开关、不装任何库、单臂 1.6 小时&lt;/b&gt;（λ=1，1.28M 样本）就拿到 +0.081 dB 且四指标同升，超过 Mamba 全部 8 个臂的最好成绩（33.42）。&lt;/Text&gt;&#10;      &lt;/Box&gt;&#10;&#10;    &lt;/Box&gt;&#10;  &lt;/Box&gt;&#10;&#10;  {/* 其他失败臂 */}&#10;  &lt;Box style={{ position: 'absolute', top: 542, left: 70, right: 70, height: 124, background: '#F7F9FC', border: '1px solid #D6DCE5', borderRadius: 4, padding: 10, flexDirection: 'column', gap: 5 }}&gt;&#10;    &lt;Text style={{ fontSize: 13.5, color: '#334155', fontWeight: 'bold' }}&gt;同批被判定为无效或负收益的机制（均已关线，不再投入预算）&lt;/Text&gt;&#10;    &lt;Table&#10;      style={{ width: '100%', height: 82 }}&#10;      defaultTextStyle={{ fontSize: 12, textAlign: 'center', color: '#1A2230' }}&#10;      defaultCellStyle={{ border: { left: { width: 1, color: '#D6DCE5' }, right: { width: 1, color: '#D6DCE5' }, top: { width: 1, color: '#D6DCE5' }, bottom: { width: 1, color: '#D6DCE5' } }, padding: 3 }}&#10;      cells={[&#10;        [&#10;          { text: '尝试', textStyle: { bold: true, color: '#FFFFFF', fontSize: 12 }, cellStyle: { background: { color: '#334155' } } },&#10;          { text: '判定', textStyle: { bold: true, color: '#FFFFFF', fontSize: 12 }, cellStyle: { background: { color: '#334155' } } },&#10;          { text: '尝试', textStyle: { bold: true, color: '#FFFFFF', fontSize: 12 }, cellStyle: { background: { color: '#334155' } } },&#10;          { text: '判定', textStyle: { bold: true, color: '#FFFFFF', fontSize: 12 }, cellStyle: { background: { color: '#334155' } } },&#10;        ],&#10;        [&#10;          { text: '压平通道金字塔', textStyle: { fontSize: 12, textAlign: 'left' } },&#10;          { text: '−0.07 dB，金字塔有用', textStyle: { fontSize: 12, color: '#B91C1C' } },&#10;          { text: '门控前馈层 / 坐标注入 / 频域软路由', textStyle: { fontSize: 12, textAlign: 'left' } },&#10;          { text: '全部打平微负，卖点未兑现', textStyle: { fontSize: 12, color: '#B91C1C' } },&#10;        ],&#10;        [&#10;          { text: 'UU 损失作重建项', textStyle: { fontSize: 12, textAlign: 'left' } },&#10;          { text: '−0.95 dB，不可用', textStyle: { fontSize: 12, color: '#B91C1C' } },&#10;          { text: '全局 FFT 频带增益头', textStyle: { fontSize: 12, textAlign: 'left' } },&#10;          { text: '负收益，相位不稳', textStyle: { fontSize: 12, color: '#B91C1C' } },&#10;        ],&#10;      ]}&#10;    /&gt;&#10;  &lt;/Box&gt;&#10;&#10;  &lt;Box style={{ position: 'absolute', bottom: 14, left: 70, right: 70, flexDirection: 'row', justifyContent: 'space-between', borderTop: '1px solid #D6DCE5', paddingTop: 8 }}&gt;&#10;    &lt;Text style={{ fontSize: 12.5, color: '#8B97A8' }}&gt;收益排序实测为「架构 ≫ 容量 &amp;gt; 数据 &amp;gt; 步数」，但方向可以反着来：一个既学不会、又跑不动的算子，论文再新也救不了它&lt;/Text&gt;&#10;    &lt;Text style={{ fontSize: 12, color: '#4A5568', fontWeight: 'bold' }}&gt;10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66750" y="19050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B91C1C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975" b="1" spc="300">
                <a:solidFill>
                  <a:srgbClr val="B91C1C"/>
                </a:solidFill>
                <a:latin typeface="Microsoft YaHei"/>
                <a:ea typeface="Microsoft YaHei"/>
              </a:rPr>
              <a:t>实验</a:t>
            </a:r>
            <a:r>
              <a:rPr lang="en-US" sz="975" b="1" spc="300">
                <a:solidFill>
                  <a:srgbClr val="B91C1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B91C1C"/>
                </a:solidFill>
                <a:latin typeface="Microsoft YaHei"/>
                <a:ea typeface="Microsoft YaHei"/>
              </a:rPr>
              <a:t>负面结果</a:t>
            </a:r>
            <a:r>
              <a:rPr lang="en-US" sz="975" b="1" spc="300">
                <a:solidFill>
                  <a:srgbClr val="B91C1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B91C1C"/>
                </a:solidFill>
                <a:latin typeface="Microsoft YaHei"/>
                <a:ea typeface="Microsoft YaHei"/>
              </a:rPr>
              <a:t>什么被证伪了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Mamba Out! </a:t>
            </a: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指标没打赢，效率也没打赢</a:t>
            </a:r>
            <a:r>
              <a:rPr lang="en-US" sz="19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—— 8 </a:t>
            </a: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个臂、</a:t>
            </a:r>
            <a:r>
              <a:rPr lang="en-US" sz="1950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10.3 </a:t>
            </a:r>
            <a:r>
              <a:rPr lang="zh-CN" sz="1950" b="1">
                <a:solidFill>
                  <a:srgbClr val="1E293B"/>
                </a:solidFill>
                <a:latin typeface="Microsoft YaHei"/>
                <a:ea typeface="Microsoft YaHei"/>
              </a:rPr>
              <a:t>小时，一无所获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66750" y="704850"/>
            <a:ext cx="1085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官方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对口径。先把两条战线都摆出来：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质量上等预算输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2.28 dB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，工程上利用率只有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的五分之一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14375" y="857250"/>
            <a:ext cx="6362700" cy="4305300"/>
          </a:xfrm>
          <a:prstGeom prst="roundRect">
            <a:avLst>
              <a:gd name="adj" fmla="val 885"/>
            </a:avLst>
          </a:prstGeom>
          <a:solidFill>
            <a:srgbClr val="FEF6F6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714375" y="857250"/>
            <a:ext cx="6362700" cy="4305300"/>
          </a:xfrm>
          <a:custGeom>
            <a:pathLst>
              <a:path w="668" h="452">
                <a:moveTo>
                  <a:pt x="5" y="452"/>
                </a:moveTo>
                <a:cubicBezTo>
                  <a:pt x="4" y="452"/>
                  <a:pt x="3" y="452"/>
                  <a:pt x="2" y="451"/>
                </a:cubicBezTo>
                <a:cubicBezTo>
                  <a:pt x="1" y="451"/>
                  <a:pt x="0" y="450"/>
                  <a:pt x="0" y="448"/>
                </a:cubicBezTo>
                <a:lnTo>
                  <a:pt x="0" y="448"/>
                </a:lnTo>
                <a:lnTo>
                  <a:pt x="0" y="44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B91C1C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19150" y="962025"/>
            <a:ext cx="6105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7F1D1D"/>
                </a:solidFill>
                <a:latin typeface="Microsoft YaHei"/>
                <a:ea typeface="Microsoft YaHei"/>
              </a:rPr>
              <a:t xml:space="preserve">Mamba </a:t>
            </a:r>
            <a:r>
              <a:rPr lang="zh-CN" sz="1050" b="1">
                <a:solidFill>
                  <a:srgbClr val="7F1D1D"/>
                </a:solidFill>
                <a:latin typeface="Microsoft YaHei"/>
                <a:ea typeface="Microsoft YaHei"/>
              </a:rPr>
              <a:t>矩阵：</a:t>
            </a:r>
            <a:r>
              <a:rPr lang="en-US" sz="1050" b="1">
                <a:solidFill>
                  <a:srgbClr val="7F1D1D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050" b="1">
                <a:solidFill>
                  <a:srgbClr val="7F1D1D"/>
                </a:solidFill>
                <a:latin typeface="Microsoft YaHei"/>
                <a:ea typeface="Microsoft YaHei"/>
              </a:rPr>
              <a:t>个臂，一个都没打赢同预算的</a:t>
            </a:r>
            <a:r>
              <a:rPr lang="en-US" sz="1050" b="1">
                <a:solidFill>
                  <a:srgbClr val="7F1D1D"/>
                </a:solidFill>
                <a:latin typeface="Microsoft YaHei"/>
                <a:ea typeface="Microsoft YaHei"/>
              </a:rPr>
              <a:t xml:space="preserve"> U-Net</a:t>
            </a:r>
            <a:endParaRPr/>
          </a:p>
        </p:txBody>
      </p:sp>
      <p:graphicFrame>
        <p:nvGraphicFramePr>
          <p:cNvPr id="34" name=""/>
          <p:cNvGraphicFramePr/>
          <p:nvPr/>
        </p:nvGraphicFramePr>
        <p:xfrm rot="0" flipH="0" flipV="0">
          <a:off x="819150" y="1190625"/>
          <a:ext cx="6105525" cy="2286000"/>
        </p:xfrm>
        <a:graphic>
          <a:graphicData uri="http://schemas.openxmlformats.org/drawingml/2006/table">
            <a:tbl>
              <a:tblGrid>
                <a:gridCol w="2381877">
                  <a:extLst>
                    <a:ext uri="{9D8B030D-6E8A-4147-A177-3AD203B41FA5}">
                      <a16:colId val="1"/>
                    </a:ext>
                  </a:extLst>
                </a:gridCol>
                <a:gridCol w="795007">
                  <a:extLst>
                    <a:ext uri="{9D8B030D-6E8A-4147-A177-3AD203B41FA5}">
                      <a16:colId val="2"/>
                    </a:ext>
                  </a:extLst>
                </a:gridCol>
                <a:gridCol w="685025">
                  <a:extLst>
                    <a:ext uri="{9D8B030D-6E8A-4147-A177-3AD203B41FA5}">
                      <a16:colId val="3"/>
                    </a:ext>
                  </a:extLst>
                </a:gridCol>
                <a:gridCol w="857853">
                  <a:extLst>
                    <a:ext uri="{9D8B030D-6E8A-4147-A177-3AD203B41FA5}">
                      <a16:colId val="4"/>
                    </a:ext>
                  </a:extLst>
                </a:gridCol>
                <a:gridCol w="622179">
                  <a:extLst>
                    <a:ext uri="{9D8B030D-6E8A-4147-A177-3AD203B41FA5}">
                      <a16:colId val="5"/>
                    </a:ext>
                  </a:extLst>
                </a:gridCol>
                <a:gridCol w="763583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6942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骨干 · 步长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PSNR-Y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SSIM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MUSIQ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3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U-Net · 不下采样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18.67M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328k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5803D"/>
                          </a:solidFill>
                          <a:latin typeface="Microsoft YaHei"/>
                          <a:ea typeface="Microsoft YaHei"/>
                        </a:rPr>
                        <a:t>33.97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53.9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3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Mamba · 下降采样 · c96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0.43M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328k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31.68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40.2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3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U-Net · 不下采样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18.67M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439k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5803D"/>
                          </a:solidFill>
                          <a:latin typeface="Microsoft YaHei"/>
                          <a:ea typeface="Microsoft YaHei"/>
                        </a:rPr>
                        <a:t>34.04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54.5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3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Mamba · 下降采样 · c96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0.43M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1.54M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33.42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51.4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33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Mamba · 不下采样 · c96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</a:rPr>
                        <a:t>0.43M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269k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</a:rPr>
                        <a:t>32.57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86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43.4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9150" y="3543300"/>
            <a:ext cx="6105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2000"/>
              </a:lnSpc>
            </a:pP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等预算硬对照（第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行，样本数逐点对齐）：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U-Net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高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2.28 dB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，而它参数是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Mamba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的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43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倍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——Mamba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堆到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4.7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倍样本也只到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33.42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，仍低于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在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1/4.7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预算下的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33.97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。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注意三个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Mamba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臂全是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c96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>0.43M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），比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小两个数量级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：参数少不是它输的理由，容量在它身上同样不吃。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19150" y="4200525"/>
            <a:ext cx="610552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2000"/>
              </a:lnSpc>
            </a:pP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四指标排序与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完全一致（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>SSIM 0.891 vs 0.922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>MUSIQ 40.2 vs 53.9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）⇒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不是换了感知风格，是真的学不会。唯一正向：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Mamba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内部「不下采样」优于「下降采样」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>+0.89 dB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，但仍差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约</a:t>
            </a:r>
            <a:r>
              <a:rPr lang="en-US" sz="900">
                <a:solidFill>
                  <a:srgbClr val="7F1D1D"/>
                </a:solidFill>
                <a:latin typeface="Microsoft YaHei"/>
                <a:ea typeface="Microsoft YaHei"/>
              </a:rPr>
              <a:t xml:space="preserve"> 1.0 dB</a:t>
            </a:r>
            <a:r>
              <a:rPr lang="zh-CN" sz="900">
                <a:solidFill>
                  <a:srgbClr val="7F1D1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19150" y="4657725"/>
            <a:ext cx="6105525" cy="190500"/>
          </a:xfrm>
          <a:prstGeom prst="rect"/>
        </p:spPr>
        <p:txBody>
          <a:bodyPr wrap="none" lIns="0" tIns="0" rIns="0" bIns="0"/>
          <a:p>
            <a:pPr>
              <a:lnSpc>
                <a:spcPct val="136000"/>
              </a:lnSpc>
            </a:pP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结论：质量与工程两条战线全输，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 xml:space="preserve">Mamba 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线关闭，不再投预算。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191375" y="857250"/>
            <a:ext cx="4381500" cy="2428875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7191375" y="857250"/>
            <a:ext cx="4381500" cy="2428875"/>
          </a:xfrm>
          <a:custGeom>
            <a:pathLst>
              <a:path w="460" h="255">
                <a:moveTo>
                  <a:pt x="5" y="255"/>
                </a:moveTo>
                <a:cubicBezTo>
                  <a:pt x="4" y="255"/>
                  <a:pt x="3" y="255"/>
                  <a:pt x="2" y="254"/>
                </a:cubicBezTo>
                <a:cubicBezTo>
                  <a:pt x="1" y="254"/>
                  <a:pt x="0" y="253"/>
                  <a:pt x="0" y="251"/>
                </a:cubicBezTo>
                <a:lnTo>
                  <a:pt x="0" y="251"/>
                </a:lnTo>
                <a:lnTo>
                  <a:pt x="0" y="251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34155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277100" y="942975"/>
            <a:ext cx="416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E293B"/>
                </a:solidFill>
                <a:latin typeface="Microsoft YaHei"/>
                <a:ea typeface="Microsoft YaHei"/>
              </a:rPr>
              <a:t>工程侧：利用率只有</a:t>
            </a:r>
            <a:r>
              <a:rPr lang="en-US" sz="1013" b="1">
                <a:solidFill>
                  <a:srgbClr val="1E293B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1013" b="1">
                <a:solidFill>
                  <a:srgbClr val="1E293B"/>
                </a:solidFill>
                <a:latin typeface="Microsoft YaHei"/>
                <a:ea typeface="Microsoft YaHei"/>
              </a:rPr>
              <a:t>的五分之一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277100" y="1133475"/>
            <a:ext cx="4162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统一「前向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反向」口径下，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U-Net b64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跑到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20.0%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33.1 TFLOPS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），而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Mamba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官方融合核只有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≥3.6%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，纯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PyTorch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回退更跌到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~0.1%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回退路径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batch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超过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就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OOM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，激活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50.3 GB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根本不可训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277100" y="1733550"/>
            <a:ext cx="4162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原因是扫描算子的核内递推：每个位置都要把上一步状态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读回再写回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，序列越长费字节越多。墙钟上直接体现为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全程不降采样（序列长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16384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步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2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万步要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天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，单臂不可行；退回降采样（序列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4096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）才压到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0.88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步。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277100" y="2333625"/>
            <a:ext cx="41624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这与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的瓶颈性质完全不同：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U-Net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卡在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conv GEMM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维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Mamba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卡在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扫描的状态流量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。参数量不是原因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矩阵臂只有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0.43M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c96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、用户规格的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c128×4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也仅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2.75M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，都比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U-Net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18.67M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小一个到两个数量级，照样跑不动也赢不了。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191375" y="3352800"/>
            <a:ext cx="4381500" cy="1809750"/>
          </a:xfrm>
          <a:prstGeom prst="roundRect">
            <a:avLst>
              <a:gd name="adj" fmla="val 2105"/>
            </a:avLst>
          </a:prstGeom>
          <a:solidFill>
            <a:srgbClr val="F0F9FF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7191375" y="3352800"/>
            <a:ext cx="4381500" cy="1809750"/>
          </a:xfrm>
          <a:custGeom>
            <a:pathLst>
              <a:path w="460" h="190">
                <a:moveTo>
                  <a:pt x="5" y="190"/>
                </a:moveTo>
                <a:cubicBezTo>
                  <a:pt x="4" y="190"/>
                  <a:pt x="3" y="190"/>
                  <a:pt x="2" y="189"/>
                </a:cubicBezTo>
                <a:cubicBezTo>
                  <a:pt x="1" y="189"/>
                  <a:pt x="0" y="188"/>
                  <a:pt x="0" y="186"/>
                </a:cubicBezTo>
                <a:lnTo>
                  <a:pt x="0" y="186"/>
                </a:lnTo>
                <a:lnTo>
                  <a:pt x="0" y="18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369A1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277100" y="3438525"/>
            <a:ext cx="416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C4A6E"/>
                </a:solidFill>
                <a:latin typeface="Microsoft YaHei"/>
                <a:ea typeface="Microsoft YaHei"/>
              </a:rPr>
              <a:t>为它铺的工程量</a:t>
            </a:r>
            <a:r>
              <a:rPr lang="en-US" sz="1013" b="1">
                <a:solidFill>
                  <a:srgbClr val="0C4A6E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1013" b="1">
                <a:solidFill>
                  <a:srgbClr val="0C4A6E"/>
                </a:solidFill>
                <a:latin typeface="Microsoft YaHei"/>
                <a:ea typeface="Microsoft YaHei"/>
              </a:rPr>
              <a:t>我们正解的成本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277100" y="3629025"/>
            <a:ext cx="41624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为让它能跑：装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nvcc 12.8 +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源码编译官方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CUDA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核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，又自写一套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纯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PyTorch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精确回退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（实对角递推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>h_t = P_t·(h_0 + Σ b_j/P_j)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，踩了累积衰减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clamp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冻结记忆、除法反向溢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fp32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变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NaN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bf16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累加丢尾数三个坑，对齐到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rel 1.4e-07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）。整套矩阵烧掉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10.3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小时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277100" y="4419600"/>
            <a:ext cx="4162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8000"/>
              </a:lnSpc>
            </a:pP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对照正解：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只加一个高频子带损失开关、不装任何库、单臂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 xml:space="preserve"> 1.6 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小时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（λ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>=1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 xml:space="preserve">1.28M 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样本）就拿到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 xml:space="preserve"> +0.081 dB 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且四指标同升，超过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 xml:space="preserve"> Mamba 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全部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个臂的最好成绩（</a:t>
            </a:r>
            <a:r>
              <a:rPr lang="en-US" sz="900">
                <a:solidFill>
                  <a:srgbClr val="0C4A6E"/>
                </a:solidFill>
                <a:latin typeface="Microsoft YaHei"/>
                <a:ea typeface="Microsoft YaHei"/>
              </a:rPr>
              <a:t>33.42</a:t>
            </a:r>
            <a:r>
              <a:rPr lang="zh-CN" sz="900">
                <a:solidFill>
                  <a:srgbClr val="0C4A6E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66750" y="5162550"/>
            <a:ext cx="10858500" cy="118110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62000" y="525780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334155"/>
                </a:solidFill>
                <a:latin typeface="Microsoft YaHei"/>
                <a:ea typeface="Microsoft YaHei"/>
              </a:rPr>
              <a:t>同批被判定为无效或负收益的机制（均已关线，不再投入预算）</a:t>
            </a:r>
            <a:endParaRPr/>
          </a:p>
        </p:txBody>
      </p:sp>
      <p:graphicFrame>
        <p:nvGraphicFramePr>
          <p:cNvPr id="51" name=""/>
          <p:cNvGraphicFramePr/>
          <p:nvPr/>
        </p:nvGraphicFramePr>
        <p:xfrm rot="0" flipH="0" flipV="0">
          <a:off x="762000" y="5467350"/>
          <a:ext cx="10668000" cy="790575"/>
        </p:xfrm>
        <a:graphic>
          <a:graphicData uri="http://schemas.openxmlformats.org/drawingml/2006/table">
            <a:tbl>
              <a:tblGrid>
                <a:gridCol w="1862495">
                  <a:extLst>
                    <a:ext uri="{9D8B030D-6E8A-4147-A177-3AD203B41FA5}">
                      <a16:colId val="1"/>
                    </a:ext>
                  </a:extLst>
                </a:gridCol>
                <a:gridCol w="2401828">
                  <a:extLst>
                    <a:ext uri="{9D8B030D-6E8A-4147-A177-3AD203B41FA5}">
                      <a16:colId val="2"/>
                    </a:ext>
                  </a:extLst>
                </a:gridCol>
                <a:gridCol w="3642293">
                  <a:extLst>
                    <a:ext uri="{9D8B030D-6E8A-4147-A177-3AD203B41FA5}">
                      <a16:colId val="3"/>
                    </a:ext>
                  </a:extLst>
                </a:gridCol>
                <a:gridCol w="276138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2635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尝试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尝试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635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压平通道金字塔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−0.07 dB，金字塔有用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门控前馈层 / 坐标注入 / 频域软路由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全部打平微负，卖点未兑现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635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UU 损失作重建项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−0.95 dB，不可用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全局 FFT 频带增益头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B91C1C"/>
                          </a:solidFill>
                          <a:latin typeface="Microsoft YaHei"/>
                          <a:ea typeface="Microsoft YaHei"/>
                        </a:rPr>
                        <a:t>负收益，相位不稳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sp>
        <p:nvSpPr>
          <p:cNvPr id="52" name=""/>
          <p:cNvSpPr/>
          <p:nvPr/>
        </p:nvSpPr>
        <p:spPr>
          <a:xfrm rot="0" flipH="0" flipV="0">
            <a:off x="666750" y="6496050"/>
            <a:ext cx="10858500" cy="238125"/>
          </a:xfrm>
          <a:custGeom>
            <a:pathLst>
              <a:path w="1140" h="25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66750" y="6581775"/>
            <a:ext cx="6581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收益排序实测为「架构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≫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容量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&gt;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数据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&gt;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步数」，但方向可以反着来：一个既学不会、又跑不动的算子，论文再新也救不了它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34725" y="65817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55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30, left: 70, right: 70, flexDirection: 'column', gap: 5 }}&gt;&#10;    &lt;Text style={{ fontSize: 13, color: '#1E4FA8', letterSpacing: 4, fontWeight: 'bold' }}&gt;04 实验 · 表一 · 各组件增益&lt;/Text&gt;&#10;    &lt;Text style={{ fontSize: 29, color: '#0E3F8C', fontWeight: 'bold' }}&gt;从基线到完整配方：逐项加入，四项指标同步评估&lt;/Text&gt;&#10;    &lt;Text style={{ fontSize: 13, color: '#4A5568' }}&gt;100 对官方测试集 · Limited-range Y · 每行在上行基础上只增加一项&lt;/Text&gt;&#10;  &lt;/Box&gt;&#10;&#10;  &lt;Box style={{ position: 'absolute', top: 112, left: 70, right: 70, height: 418, background: '#F7F9FC', border: '1px solid #D6DCE5', borderRadius: 4, padding: 12, flexDirection: 'column' }}&gt;&#10;    &lt;Table&#10;      style={{ width: '100%', height: 394 }}&#10;      defaultTextStyle={{ fontSize: 12, textAlign: 'center', color: '#1A2230' }}&#10;      defaultCellStyle={{ border: { left: { width: 1, color: '#D6DCE5' }, right: { width: 1, color: '#D6DCE5' }, top: { width: 1, color: '#D6DCE5' }, bottom: { width: 1, color: '#D6DCE5' } }, padding: 6 }}&#10;      cells={[&#10;        [&#10;          { text: '配置', textStyle: { bold: true, color: '#FFFFFF', fontSize: 12 }, cellStyle: { background: { color: '#0E3F8C' } } },&#10;          { text: 'PSNR-Y', textStyle: { bold: true, color: '#FFFFFF', fontSize: 12 }, cellStyle: { background: { color: '#0E3F8C' } } },&#10;          { text: 'ΔPSNR', textStyle: { bold: true, color: '#FFFFFF', fontSize: 12 }, cellStyle: { background: { color: '#0E3F8C' } } },&#10;          { text: 'SSIM', textStyle: { bold: true, color: '#FFFFFF', fontSize: 12 }, cellStyle: { background: { color: '#0E3F8C' } } },&#10;          { text: 'MUSIQ', textStyle: { bold: true, color: '#FFFFFF', fontSize: 12 }, cellStyle: { background: { color: '#0E3F8C' } } },&#10;          { text: 'MANIQA', textStyle: { bold: true, color: '#FFFFFF', fontSize: 12 }, cellStyle: { background: { color: '#0E3F8C' } } },&#10;          { text: '代价', textStyle: { bold: true, color: '#FFFFFF', fontSize: 12 }, cellStyle: { background: { color: '#0E3F8C' } } },&#10;        ],&#10;        [&#10;          { text: '① 主干下采样 → 不下采样（stride-2 → stride-1）', textStyle: { textAlign: 'left', fontSize: 12, bold: true } },&#10;          { text: '34.11', textStyle: { bold: true, fontSize: 13 } },&#10;          { text: '+0.38', textStyle: { bold: true, color: '#0E3F8C', fontSize: 13 } },&#10;          { text: '0.9246', textStyle: { fontSize: 12 } },&#10;          { text: '55.22', textStyle: { fontSize: 12 } },&#10;          { text: '0.3416', textStyle: { fontSize: 12 } },&#10;          { text: '参数减少 3.7 倍', textStyle: { fontSize: 12.5, color: '#0E3F8C' } },&#10;        ],&#10;        [&#10;          { text: '② ＋ 高频子带约束（λ=8，Haar 小波）', textStyle: { textAlign: 'left', fontSize: 12 }, cellStyle: { background: { color: '#FFFFFF' } } },&#10;          { text: '34.28', textStyle: { fontSize: 12 }, cellStyle: { background: { color: '#FFFFFF' } } },&#10;          { text: '+0.17', textStyle: { color: '#0E3F8C' }, cellStyle: { background: { color: '#FFFFFF' } } },&#10;          { text: '0.9271', textStyle: {}, cellStyle: { background: { color: '#FFFFFF' } } },&#10;          { text: '55.87', textStyle: {}, cellStyle: { background: { color: '#FFFFFF' } } },&#10;          { text: '0.3513', textStyle: {}, cellStyle: { background: { color: '#FFFFFF' } } },&#10;          { text: '无推理开销', textStyle: { fontSize: 12.5, color: '#0E3F8C' }, cellStyle: { background: { color: '#FFFFFF' } } },&#10;        ],&#10;        [&#10;          { text: '③ ＋ 正交化优化器（Muon，lr 5e-3）', textStyle: { textAlign: 'left', fontSize: 12 } },&#10;          { text: '34.29', textStyle: { fontSize: 12 } },&#10;          { text: '+0.01', textStyle: { color: '#0E3F8C' } },&#10;          { text: '0.9280', textStyle: {} },&#10;          { text: '55.85', textStyle: {} },&#10;          { text: '0.3521', textStyle: {} },&#10;          { text: '无推理开销', textStyle: { fontSize: 12.5, color: '#0E3F8C' } },&#10;        ],&#10;        [&#10;          { text: '④ ＋ 多相位平移集成（shift4）', textStyle: { textAlign: 'left', fontSize: 12 }, cellStyle: { background: { color: '#FFFFFF' } } },&#10;          { text: '34.31', textStyle: { fontSize: 12 }, cellStyle: { background: { color: '#FFFFFF' } } },&#10;          { text: '+0.02', textStyle: { color: '#0E3F8C' }, cellStyle: { background: { color: '#FFFFFF' } } },&#10;          { text: '0.9277', textStyle: {}, cellStyle: { background: { color: '#FFFFFF' } } },&#10;          { text: '56.02', textStyle: { bold: true, color: '#0E3F8C' }, cellStyle: { background: { color: '#FFFFFF' } } },&#10;          { text: '0.3534', textStyle: { bold: true, color: '#0E3F8C' }, cellStyle: { background: { color: '#FFFFFF' } } },&#10;          { text: '无推理开销', textStyle: { fontSize: 12.5, color: '#0E3F8C' }, cellStyle: { background: { color: '#FFFFFF' } } },&#10;        ],&#10;        [&#10;          { text: '⑤ ＋ 8 重变换自集成（D4-TTA）', textStyle: { textAlign: 'left', fontSize: 12, bold: true }, cellStyle: { background: { color: '#0E3F8C' } } },&#10;          { text: '34.41', textStyle: { bold: true, color: '#FFC107', fontSize: 14 }, cellStyle: { background: { color: '#0E3F8C' } } },&#10;          { text: '+0.10', textStyle: { bold: true, color: '#FFC107', fontSize: 13 }, cellStyle: { background: { color: '#0E3F8C' } } },&#10;          { text: '0.9285', textStyle: { bold: true, color: '#FFC107', fontSize: 13 }, cellStyle: { background: { color: '#0E3F8C' } } },&#10;          { text: '55.96', textStyle: { bold: true, color: '#FFC107', fontSize: 13 }, cellStyle: { background: { color: '#0E3F8C' } } },&#10;          { text: '0.3534', textStyle: { bold: true, color: '#FFC107', fontSize: 13 }, cellStyle: { background: { color: '#0E3F8C' } } },&#10;          { text: '推理时间 ×8', textStyle: { fontSize: 12.5, color: '#FFC107' }, cellStyle: { background: { color: '#0E3F8C' } } },&#10;        ],&#10;        [&#10;          { text: '对照：参数量 18.7M → 72.5M（放大 3.9 倍）', textStyle: { textAlign: 'left', fontSize: 12 }, cellStyle: { background: { color: '#FFF4E6' } } },&#10;          { text: '34.16', textStyle: { fontSize: 12, color: '#D9534F' }, cellStyle: { background: { color: '#FFF4E6' } } },&#10;          { text: '+0.05', textStyle: { bold: true, color: '#D9534F', fontSize: 13 }, cellStyle: { background: { color: '#FFF4E6' } } },&#10;          { text: '0.9249', textStyle: { color: '#D9534F' }, cellStyle: { background: { color: '#FFF4E6' } } },&#10;          { text: '55.42', textStyle: { color: '#D9534F' }, cellStyle: { background: { color: '#FFF4E6' } } },&#10;          { text: '0.3434', textStyle: { color: '#D9534F' }, cellStyle: { background: { color: '#FFF4E6' } } },&#10;          { text: '线性增长 · 已饱和', textStyle: { fontSize: 12.5, color: '#D9534F' }, cellStyle: { background: { color: '#FFF4E6' } } },&#10;        ],&#10;        [&#10;          { text: '对照：5M → 10.7M（容量区间）', textStyle: { textAlign: 'left', fontSize: 12 }, cellStyle: { background: { color: '#FFFFFF' } } },&#10;          { text: '33.94–34.01', textStyle: { fontSize: 12.5, color: '#8B97A8' }, cellStyle: { background: { color: '#FFFFFF' } } },&#10;          { text: '≈0', textStyle: { color: '#8B97A8' }, cellStyle: { background: { color: '#FFFFFF' } } },&#10;          { text: '0.9219–0.9232', textStyle: { fontSize: 12.5, color: '#8B97A8' }, cellStyle: { background: { color: '#FFFFFF' } } },&#10;          { text: '54.20–54.84', textStyle: { fontSize: 12.5, color: '#8B97A8' }, cellStyle: { background: { color: '#FFFFFF' } } },&#10;          { text: '0.3335–0.3391', textStyle: { fontSize: 12.5, color: '#8B97A8' }, cellStyle: { background: { color: '#FFFFFF' } } },&#10;          { text: '无差别', textStyle: { fontSize: 12.5, color: '#8B97A8' }, cellStyle: { background: { color: '#FFFFFF' } } },&#10;        ],&#10;      ]}&#10;    /&gt;&#10;  &lt;/Box&gt;&#10;&#10;  &lt;Box style={{ position: 'absolute', bottom: 56, left: 70, right: 70, flexDirection: 'row', gap: 14 }}&gt;&#10;    &lt;Box style={{ flex: 2, background: '#F0F5FC', padding: 12, borderLeft: '4px solid #0E3F8C', borderRadius: 4 }}&gt;&#10;      &lt;Text style={{ fontSize: 13, color: '#0E3F8C', fontWeight: 'bold' }}&gt;结论：①②④ 三项不增加推理开销，合计 +0.57 dB；其中 ① 单项即占 0.38 dB。参数量从 5M 放大到 72.5M 只换来 0.05 dB，说明该任务的瓶颈不在模型容量。&lt;/Text&gt;&#10;    &lt;/Box&gt;&#10;    &lt;Box style={{ flex: 1, background: '#FFFFFF', padding: 12, border: '1px solid #D6DCE5', borderLeft: '4px solid #FFC107', borderRadius: 4 }}&gt;&#10;      &lt;Text style={{ fontSize: 13, color: '#1A2230', fontWeight: 'bold' }}&gt;TTA 会小幅平滑极锐纹理：MUSIQ 55.96 略低于 ④ 的 56.02，而 SSIM 与 PSNR 上升。&lt;/Text&gt;&#10;    &lt;/Box&gt;&#10;  &lt;/Box&gt;&#10;&#10;  &lt;Box style={{ position: 'absolute', bottom: 24, left: 70, right: 70, flexDirection: 'row', justifyContent: 'space-between', borderTop: '1px solid #D6DCE5', paddingTop: 12 }}&gt;&#10;    &lt;Text style={{ fontSize: 12.5, color: '#8B97A8' }}&gt;②③④ 为同优化器下的单因子对照；感知指标逐图存在 0.1–0.3 抖动，仅采纳多指标同向的变化&lt;/Text&gt;&#10;    &lt;Text style={{ fontSize: 12, color: '#4A5568', fontWeight: 'bold' }}&gt;11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66750" y="2857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实验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表一</a:t>
            </a: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各组件增益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66750" y="485775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E3F8C"/>
                </a:solidFill>
                <a:latin typeface="Microsoft YaHei"/>
                <a:ea typeface="Microsoft YaHei"/>
              </a:rPr>
              <a:t>从基线到完整配方：逐项加入，四项指标同步评估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66750" y="866775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100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对官方测试集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Limited-range Y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每行在上行基础上只增加一项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66750" y="1066800"/>
            <a:ext cx="10858500" cy="3981450"/>
          </a:xfrm>
          <a:prstGeom prst="roundRect">
            <a:avLst>
              <a:gd name="adj" fmla="val 9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graphicFrame>
        <p:nvGraphicFramePr>
          <p:cNvPr id="62" name=""/>
          <p:cNvGraphicFramePr/>
          <p:nvPr/>
        </p:nvGraphicFramePr>
        <p:xfrm rot="0" flipH="0" flipV="0">
          <a:off x="781050" y="1181100"/>
          <a:ext cx="10629900" cy="3752850"/>
        </p:xfrm>
        <a:graphic>
          <a:graphicData uri="http://schemas.openxmlformats.org/drawingml/2006/table">
            <a:tbl>
              <a:tblGrid>
                <a:gridCol w="3810969">
                  <a:extLst>
                    <a:ext uri="{9D8B030D-6E8A-4147-A177-3AD203B41FA5}">
                      <a16:colId val="1"/>
                    </a:ext>
                  </a:extLst>
                </a:gridCol>
                <a:gridCol w="1081276">
                  <a:extLst>
                    <a:ext uri="{9D8B030D-6E8A-4147-A177-3AD203B41FA5}">
                      <a16:colId val="2"/>
                    </a:ext>
                  </a:extLst>
                </a:gridCol>
                <a:gridCol w="670497">
                  <a:extLst>
                    <a:ext uri="{9D8B030D-6E8A-4147-A177-3AD203B41FA5}">
                      <a16:colId val="3"/>
                    </a:ext>
                  </a:extLst>
                </a:gridCol>
                <a:gridCol w="1280040">
                  <a:extLst>
                    <a:ext uri="{9D8B030D-6E8A-4147-A177-3AD203B41FA5}">
                      <a16:colId val="4"/>
                    </a:ext>
                  </a:extLst>
                </a:gridCol>
                <a:gridCol w="1081276">
                  <a:extLst>
                    <a:ext uri="{9D8B030D-6E8A-4147-A177-3AD203B41FA5}">
                      <a16:colId val="5"/>
                    </a:ext>
                  </a:extLst>
                </a:gridCol>
                <a:gridCol w="1280040">
                  <a:extLst>
                    <a:ext uri="{9D8B030D-6E8A-4147-A177-3AD203B41FA5}">
                      <a16:colId val="6"/>
                    </a:ext>
                  </a:extLst>
                </a:gridCol>
                <a:gridCol w="1425801">
                  <a:extLst>
                    <a:ext uri="{9D8B030D-6E8A-4147-A177-3AD203B41FA5}">
                      <a16:colId val="7"/>
                    </a:ext>
                  </a:extLst>
                </a:gridCol>
              </a:tblGrid>
              <a:tr h="458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PSNR-Y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ΔPSNR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SSIM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MUSIQ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MANIQA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代价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753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① 主干下采样 → 不下采样（stride-2 → stride-1）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+0.38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0.9246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55.22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0.3416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参数减少 3.7 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58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② ＋ 高频子带约束（λ=8，Haar 小波）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+0.17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0.9271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55.87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0.3513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无推理开销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58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③ ＋ 正交化优化器（Muon，lr 5e-3）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+0.01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55.85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0.3521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无推理开销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58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④ ＋ 多相位平移集成（shift4）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+0.02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0.9277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56.02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0.3534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无推理开销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0857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⑤ ＋ 8 重变换自集成（D4-TTA）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34.41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+0.10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0.9285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55.96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0.3534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推理时间 ×8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7533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对照：参数量 18.7M → 72.5M（放大 3.9 倍）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34.16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+0.05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0.9249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55.42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0.3434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线性增长 · 已饱和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4E6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5871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对照：5M → 10.7M（容量区间）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33.94–34.01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≈0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0.9219–0.9232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54.20–54.84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0.3335–0.3391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无差别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63" name=""/>
          <p:cNvSpPr/>
          <p:nvPr/>
        </p:nvSpPr>
        <p:spPr>
          <a:xfrm rot="0" flipH="0" flipV="0">
            <a:off x="704850" y="5791200"/>
            <a:ext cx="7153275" cy="533400"/>
          </a:xfrm>
          <a:prstGeom prst="roundRect">
            <a:avLst>
              <a:gd name="adj" fmla="val 714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704850" y="5791200"/>
            <a:ext cx="7153275" cy="533400"/>
          </a:xfrm>
          <a:custGeom>
            <a:pathLst>
              <a:path w="751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688657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结论：①②④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三项不增加推理开销，合计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+0.57 dB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；其中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①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单项即占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0.38 dB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。参数量从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5M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放大到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72.5M 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只换来</a:t>
            </a:r>
            <a:r>
              <a:rPr lang="en-US" sz="9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0.05 dB</a:t>
            </a:r>
            <a:r>
              <a:rPr lang="zh-CN" sz="975" b="1">
                <a:solidFill>
                  <a:srgbClr val="0E3F8C"/>
                </a:solidFill>
                <a:latin typeface="Microsoft YaHei"/>
                <a:ea typeface="Microsoft YaHei"/>
              </a:rPr>
              <a:t>，说明该任务的瓶颈不在模型容量。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991475" y="5791200"/>
            <a:ext cx="3571875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7991475" y="5791200"/>
            <a:ext cx="3571875" cy="533400"/>
          </a:xfrm>
          <a:custGeom>
            <a:pathLst>
              <a:path w="375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105775" y="5905500"/>
            <a:ext cx="330517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TTA 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会小幅平滑极锐纹理：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MUSIQ 55.96 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略低于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④ 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56.02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，而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SSIM 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PSNR </a:t>
            </a:r>
            <a:r>
              <a:rPr lang="zh-CN" sz="975" b="1">
                <a:solidFill>
                  <a:srgbClr val="1A2230"/>
                </a:solidFill>
                <a:latin typeface="Microsoft YaHei"/>
                <a:ea typeface="Microsoft YaHei"/>
              </a:rPr>
              <a:t>上升。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66750" y="6362700"/>
            <a:ext cx="10858500" cy="276225"/>
          </a:xfrm>
          <a:custGeom>
            <a:pathLst>
              <a:path w="1140" h="29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66750" y="6486525"/>
            <a:ext cx="5038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②③④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为同优化器下的单因子对照；感知指标逐图存在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0.1–0.3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抖动，仅采纳多指标同向的变化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3472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72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18, left: 56, right: 56, flexDirection: 'column', gap: 3 }}&gt;&#10;    &lt;Text style={{ fontSize: 12.5, color: '#1E4FA8', letterSpacing: 4, fontWeight: 'bold' }}&gt;04 实验 · 表二 · 与基线对比&lt;/Text&gt;&#10;    &lt;Text style={{ fontSize: 23, color: '#0E3F8C', fontWeight: 'bold' }}&gt;官方阶梯：8 个基线的官方原码，在同一配方与同一评估协议下重训（7 / 8 臂已完成）&lt;/Text&gt;&#10;    &lt;Text style={{ fontSize: 11.5, color: '#4A5568' }}&gt;A-strict：limited-range Y / uint8 / modcrop4 / 不剃边 / 100 对 / tile 64 · pad 16；统一配方 AdamW 1e-4 + L1 + EMA，样本上限 1.28M。表中数字均为 D4 × 8 自集成口径。&lt;/Text&gt;&#10;  &lt;/Box&gt;&#10;&#10;  &lt;Box style={{ position: 'absolute', top: 92, left: 56, right: 56, height: 578, background: '#F7F9FC', border: '1px solid #D6DCE5', borderRadius: 4, padding: 6, flexDirection: 'column' }}&gt;&#10;    &lt;Table&#10;      style={{ width: '100%', height: 566 }}&#10;      defaultTextStyle={{ fontSize: 12.5, textAlign: 'center', color: '#1A2230' }}&#10;      defaultCellStyle={{ border: { left: { width: 1, color: '#D6DCE5' }, right: { width: 1, color: '#D6DCE5' }, top: { width: 1, color: '#D6DCE5' }, bottom: { width: 1, color: '#D6DCE5' } }, padding: 5 }}&#10;      cells={[&#10;        [&#10;          { text: '臂（官方原码 · 实测参数）', textStyle: { bold: true, color: '#FFFFFF', fontSize: 12.5, textAlign: 'left' }, cellStyle: { background: { color: '#0E3F8C' } } },&#10;          { text: 'batch × steps · 实际样本', textStyle: { bold: true, color: '#FFFFFF', fontSize: 12.5 }, cellStyle: { background: { color: '#0E3F8C' } } },&#10;          { text: 'PSNR-Y', textStyle: { bold: true, color: '#FFFFFF', fontSize: 12.5 }, cellStyle: { background: { color: '#0E3F8C' } } },&#10;          { text: 'SSIM', textStyle: { bold: true, color: '#FFFFFF', fontSize: 12.5 }, cellStyle: { background: { color: '#0E3F8C' } } },&#10;          { text: 'MUSIQ', textStyle: { bold: true, color: '#FFFFFF', fontSize: 12.5 }, cellStyle: { background: { color: '#0E3F8C' } } },&#10;          { text: 'MANIQA', textStyle: { bold: true, color: '#FFFFFF', fontSize: 12.5 }, cellStyle: { background: { color: '#0E3F8C' } } },&#10;        ],&#10;        [&#10;          { text: 'Bicubic（下限参照）', textStyle: { fontSize: 12.5, textAlign: 'left', color: '#8B97A8' }, cellStyle: { background: { color: '#FFFFFF' } } },&#10;          { text: '—', textStyle: { fontSize: 12.5, color: '#8B97A8' }, cellStyle: { background: { color: '#FFFFFF' } } },&#10;          { text: '31.7335', textStyle: { fontSize: 12.5, color: '#8B97A8' }, cellStyle: { background: { color: '#FFFFFF' } } },&#10;          { text: '0.8876', textStyle: { fontSize: 12.5, color: '#8B97A8' }, cellStyle: { background: { color: '#FFFFFF' } } },&#10;          { text: '39.40', textStyle: { fontSize: 12.5, color: '#8B97A8' }, cellStyle: { background: { color: '#FFFFFF' } } },&#10;          { text: '0.2782', textStyle: { fontSize: 12.5, color: '#8B97A8' }, cellStyle: { background: { color: '#FFFFFF' } } },&#10;        ],&#10;        [&#10;          { text: 'EDSR-baseline（16RB×64F）1.37M', textStyle: { fontSize: 12.5, textAlign: 'left' }, cellStyle: { background: { color: '#FFFFFF' } } },&#10;          { text: '32×40k · 1.28M', textStyle: { fontSize: 12.5 }, cellStyle: { background: { color: '#FFFFFF' } } },&#10;          { text: '33.5300', textStyle: { fontSize: 12.5 }, cellStyle: { background: { color: '#FFFFFF' } } },&#10;          { text: '0.91549', textStyle: { fontSize: 12.5 }, cellStyle: { background: { color: '#FFFFFF' } } },&#10;          { text: '51.49', textStyle: { fontSize: 12.5 }, cellStyle: { background: { color: '#FFFFFF' } } },&#10;          { text: '0.32231', textStyle: { fontSize: 12.5 }, cellStyle: { background: { color: '#FFFFFF' } } },&#10;        ],&#10;        [&#10;          { text: 'HAT-L（RHAG12 · d180 · w16）40.70M', textStyle: { fontSize: 12.5, textAlign: 'left' }, cellStyle: { background: { color: '#FFFFFF' } } },&#10;          { text: '4×320k · 0.20M 早停', textStyle: { fontSize: 12, color: '#B45309' }, cellStyle: { background: { color: '#FFFFFF' } } },&#10;          { text: '33.5931', textStyle: { fontSize: 12.5 }, cellStyle: { background: { color: '#FFFFFF' } } },&#10;          { text: '0.91725', textStyle: { fontSize: 12.5 }, cellStyle: { background: { color: '#FFFFFF' } } },&#10;          { text: '51.92', textStyle: { fontSize: 12.5 }, cellStyle: { background: { color: '#FFFFFF' } } },&#10;          { text: '0.32361', textStyle: { fontSize: 12.5 }, cellStyle: { background: { color: '#FFFFFF' } } },&#10;        ],&#10;        [&#10;          { text: 'VDSR（20 层 C64 · HR 输入）0.59M', textStyle: { fontSize: 12.5, textAlign: 'left' }, cellStyle: { background: { color: '#FFFFFF' } } },&#10;          { text: '32×40k · 1.28M', textStyle: { fontSize: 12.5 }, cellStyle: { background: { color: '#FFFFFF' } } },&#10;          { text: '33.6780', textStyle: { fontSize: 12.5 }, cellStyle: { background: { color: '#FFFFFF' } } },&#10;          { text: '0.91755', textStyle: { fontSize: 12.5 }, cellStyle: { background: { color: '#FFFFFF' } } },&#10;          { text: '52.85', textStyle: { fontSize: 12.5 }, cellStyle: { background: { color: '#FFFFFF' } } },&#10;          { text: '0.31992', textStyle: { fontSize: 12.5 }, cellStyle: { background: { color: '#FFFFFF' } } },&#10;        ],&#10;        [&#10;          { text: 'RCAN（G10 / R20 / F64）15.44M', textStyle: { fontSize: 12.5, textAlign: 'left' }, cellStyle: { background: { color: '#FFFFFF' } } },&#10;          { text: '64×20k · 1.28M', textStyle: { fontSize: 12.5 }, cellStyle: { background: { color: '#FFFFFF' } } },&#10;          { text: '33.8488', textStyle: { fontSize: 12.5 }, cellStyle: { background: { color: '#FFFFFF' } } },&#10;          { text: '0.92081', textStyle: { fontSize: 12.5 }, cellStyle: { background: { color: '#FFFFFF' } } },&#10;          { text: '53.95', textStyle: { fontSize: 12.5 }, cellStyle: { background: { color: '#FFFFFF' } } },&#10;          { text: '0.33449', textStyle: { fontSize: 12.5 }, cellStyle: { background: { color: '#FFFFFF' } } },&#10;        ],&#10;        [&#10;          { text: 'RDN-B（D16 / C8 / G64）22.12M', textStyle: { fontSize: 12.5, textAlign: 'left' }, cellStyle: { background: { color: '#FFFFFF' } } },&#10;          { text: '32×40k · 1.28M', textStyle: { fontSize: 12.5 }, cellStyle: { background: { color: '#FFFFFF' } } },&#10;          { text: '33.9810', textStyle: { fontSize: 12.5 }, cellStyle: { background: { color: '#FFFFFF' } } },&#10;          { text: '0.92266', textStyle: { fontSize: 12.5 }, cellStyle: { background: { color: '#FFFFFF' } } },&#10;          { text: '54.74', textStyle: { fontSize: 12.5 }, cellStyle: { background: { color: '#FFFFFF' } } },&#10;          { text: '0.34090', textStyle: { fontSize: 12.5 }, cellStyle: { background: { color: '#FFFFFF' } } },&#10;        ],&#10;        [&#10;          { text: 'SwinIR-L classical（6×6 · d180 · w8）11.75M', textStyle: { fontSize: 12.5, textAlign: 'left' }, cellStyle: { background: { color: '#FFFFFF' } } },&#10;          { text: '8×160k · 1.06M', textStyle: { fontSize: 12.5 }, cellStyle: { background: { color: '#FFFFFF' } } },&#10;          { text: '34.0241', textStyle: { fontSize: 12.5 }, cellStyle: { background: { color: '#FFFFFF' } } },&#10;          { text: '0.92298', textStyle: { fontSize: 12.5 }, cellStyle: { background: { color: '#FFFFFF' } } },&#10;          { text: '54.57', textStyle: { fontSize: 12.5 }, cellStyle: { background: { color: '#FFFFFF' } } },&#10;          { text: '0.33873', textStyle: { fontSize: 12.5 }, cellStyle: { background: { color: '#FFFFFF' } } },&#10;        ],&#10;        [&#10;          { text: 'unet_ctrl（本文骨干 · 基线配方）18.67M', textStyle: { fontSize: 12.5, textAlign: 'left' }, cellStyle: { background: { color: '#F0F5FC' } } },&#10;          { text: '128×10k · 1.28M', textStyle: { fontSize: 12.5 }, cellStyle: { background: { color: '#F0F5FC' } } },&#10;          { text: '34.1664', textStyle: { fontSize: 12.5, bold: true }, cellStyle: { background: { color: '#F0F5FC' } } },&#10;          { text: '0.92525', textStyle: { fontSize: 12.5, bold: true }, cellStyle: { background: { color: '#F0F5FC' } } },&#10;          { text: '54.91', textStyle: { fontSize: 12.5, bold: true }, cellStyle: { background: { color: '#F0F5FC' } } },&#10;          { text: '0.34147', textStyle: { fontSize: 12.5, bold: true }, cellStyle: { background: { color: '#F0F5FC' } } },&#10;        ],&#10;        [&#10;          { text: 'SRFormer（d180 · w24）10.40M', textStyle: { fontSize: 12.5, textAlign: 'left', color: '#94A3B8' }, cellStyle: { background: { color: '#F7F9FC' } } },&#10;          { text: '16×80k · 训练中', textStyle: { fontSize: 12.5, color: '#94A3B8' }, cellStyle: { background: { color: '#F7F9FC' } } },&#10;          { text: '待评估', textStyle: { fontSize: 12.5, color: '#94A3B8' }, cellStyle: { background: { color: '#F7F9FC' } } },&#10;          { text: '—', textStyle: { fontSize: 12.5, color: '#94A3B8' }, cellStyle: { background: { color: '#F7F9FC' } } },&#10;          { text: '—', textStyle: { fontSize: 12.5, color: '#94A3B8' }, cellStyle: { background: { color: '#F7F9FC' } } },&#10;          { text: '预计 10-03', textStyle: { fontSize: 12.5, color: '#94A3B8' }, cellStyle: { background: { color: '#F7F9FC' } } },&#10;        ],&#10;        [&#10;          { text: 'Ours 交付（+ 预训练 + Muon + λ8 + 移位）18.67M', textStyle: { fontSize: 12.5, textAlign: 'left', bold: true, color: '#FFFFFF' }, cellStyle: { background: { color: '#0E3F8C' } } },&#10;          { text: '128×10k + 3.2M 预训练', textStyle: { fontSize: 12, color: '#FFFFFF' }, cellStyle: { background: { color: '#0E3F8C' } } },&#10;          { text: '34.4063', textStyle: { fontSize: 12.5, bold: true, color: '#FFC107' }, cellStyle: { background: { color: '#0E3F8C' } } },&#10;          { text: '0.9285', textStyle: { fontSize: 12.5, bold: true, color: '#FFC107' }, cellStyle: { background: { color: '#0E3F8C' } } },&#10;          { text: '55.96', textStyle: { fontSize: 12.5, bold: true, color: '#FFC107' }, cellStyle: { background: { color: '#0E3F8C' } } },&#10;          { text: '0.3534', textStyle: { fontSize: 12.5, bold: true, color: '#FFC107' }, cellStyle: { background: { color: '#0E3F8C' } } },&#10;        ],&#10;      ]}&#10;    /&gt;&#10;  &lt;/Box&gt;&#10;&#10;  &lt;Box style={{ position: 'absolute', bottom: 14, left: 56, right: 56, flexDirection: 'row', justifyContent: 'flex-end' }}&gt;&#10;    &lt;Text style={{ fontSize: 12, color: '#4A5568', fontWeight: 'bold' }}&gt;1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33400" y="171450"/>
            <a:ext cx="1112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38" b="1" spc="300">
                <a:solidFill>
                  <a:srgbClr val="1E4FA8"/>
                </a:solidFill>
                <a:latin typeface="Microsoft YaHei"/>
                <a:ea typeface="Microsoft YaHei"/>
              </a:rPr>
              <a:t>实验</a:t>
            </a:r>
            <a:r>
              <a:rPr lang="en-US" sz="938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b="1" spc="300">
                <a:solidFill>
                  <a:srgbClr val="1E4FA8"/>
                </a:solidFill>
                <a:latin typeface="Microsoft YaHei"/>
                <a:ea typeface="Microsoft YaHei"/>
              </a:rPr>
              <a:t>表二</a:t>
            </a:r>
            <a:r>
              <a:rPr lang="en-US" sz="938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b="1" spc="300">
                <a:solidFill>
                  <a:srgbClr val="1E4FA8"/>
                </a:solidFill>
                <a:latin typeface="Microsoft YaHei"/>
                <a:ea typeface="Microsoft YaHei"/>
              </a:rPr>
              <a:t>与基线对比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33400" y="342900"/>
            <a:ext cx="11125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官方阶梯：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个基线的官方原码，在同一配方与同一评估协议下重训（</a:t>
            </a: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7 / 8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臂已完成）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33400" y="638175"/>
            <a:ext cx="11125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>A-strict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 xml:space="preserve">limited-range Y / uint8 / modcrop4 / 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不剃边</a:t>
            </a: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 xml:space="preserve"> / 100 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对</a:t>
            </a: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 xml:space="preserve"> / tile 64 · pad 16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；统一配方</a:t>
            </a: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 xml:space="preserve"> AdamW 1e-4 + L1 + EMA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，样本上限</a:t>
            </a: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 xml:space="preserve"> 1.28M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。表中数字均为</a:t>
            </a:r>
            <a:r>
              <a:rPr lang="en-US" sz="863">
                <a:solidFill>
                  <a:srgbClr val="4A5568"/>
                </a:solidFill>
                <a:latin typeface="Microsoft YaHei"/>
                <a:ea typeface="Microsoft YaHei"/>
              </a:rPr>
              <a:t xml:space="preserve"> D4 × 8 </a:t>
            </a:r>
            <a:r>
              <a:rPr lang="zh-CN" sz="863">
                <a:solidFill>
                  <a:srgbClr val="4A5568"/>
                </a:solidFill>
                <a:latin typeface="Microsoft YaHei"/>
                <a:ea typeface="Microsoft YaHei"/>
              </a:rPr>
              <a:t>自集成口径。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33400" y="876300"/>
            <a:ext cx="11125200" cy="5505450"/>
          </a:xfrm>
          <a:prstGeom prst="roundRect">
            <a:avLst>
              <a:gd name="adj" fmla="val 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graphicFrame>
        <p:nvGraphicFramePr>
          <p:cNvPr id="79" name=""/>
          <p:cNvGraphicFramePr/>
          <p:nvPr/>
        </p:nvGraphicFramePr>
        <p:xfrm rot="0" flipH="0" flipV="0">
          <a:off x="590550" y="933450"/>
          <a:ext cx="11010900" cy="5391150"/>
        </p:xfrm>
        <a:graphic>
          <a:graphicData uri="http://schemas.openxmlformats.org/drawingml/2006/table">
            <a:tbl>
              <a:tblGrid>
                <a:gridCol w="4719851">
                  <a:extLst>
                    <a:ext uri="{9D8B030D-6E8A-4147-A177-3AD203B41FA5}">
                      <a16:colId val="1"/>
                    </a:ext>
                  </a:extLst>
                </a:gridCol>
                <a:gridCol w="2497640">
                  <a:extLst>
                    <a:ext uri="{9D8B030D-6E8A-4147-A177-3AD203B41FA5}">
                      <a16:colId val="2"/>
                    </a:ext>
                  </a:extLst>
                </a:gridCol>
                <a:gridCol w="917053">
                  <a:extLst>
                    <a:ext uri="{9D8B030D-6E8A-4147-A177-3AD203B41FA5}">
                      <a16:colId val="3"/>
                    </a:ext>
                  </a:extLst>
                </a:gridCol>
                <a:gridCol w="917053">
                  <a:extLst>
                    <a:ext uri="{9D8B030D-6E8A-4147-A177-3AD203B41FA5}">
                      <a16:colId val="4"/>
                    </a:ext>
                  </a:extLst>
                </a:gridCol>
                <a:gridCol w="807508">
                  <a:extLst>
                    <a:ext uri="{9D8B030D-6E8A-4147-A177-3AD203B41FA5}">
                      <a16:colId val="5"/>
                    </a:ext>
                  </a:extLst>
                </a:gridCol>
                <a:gridCol w="1151794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臂（官方原码 · 实测参数）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batch × steps · 实际样本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PSNR-Y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SSIM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MUSIQ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MANIQA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Bicubic（下限参照）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31.7335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0.8876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39.40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0.2782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EDSR-baseline（16RB×64F）1.37M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32×40k · 1.28M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33.5300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0.91549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51.49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0.32231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HAT-L（RHAG12 · d180 · w16）40.70M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B45309"/>
                          </a:solidFill>
                          <a:latin typeface="Microsoft YaHei"/>
                          <a:ea typeface="Microsoft YaHei"/>
                        </a:rPr>
                        <a:t>4×320k · 0.20M 早停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33.5931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0.91725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51.92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0.32361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VDSR（20 层 C64 · HR 输入）0.59M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32×40k · 1.28M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33.6780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0.91755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52.85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0.31992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RCAN（G10 / R20 / F64）15.44M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64×20k · 1.28M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33.8488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0.92081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53.95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0.33449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RDN-B（D16 / C8 / G64）22.12M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32×40k · 1.28M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33.9810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0.92266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54.74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0.34090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SwinIR-L classical（6×6 · d180 · w8）11.75M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8×160k · 1.06M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34.0241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0.92298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54.57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0.33873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unet_ctrl（本文骨干 · 基线配方）18.67M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128×10k · 1.28M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34.1664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0.92525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54.91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0.34147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SRFormer（d180 · w24）10.40M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16×80k · 训练中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待评估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94A3B8"/>
                          </a:solidFill>
                          <a:latin typeface="Microsoft YaHei"/>
                          <a:ea typeface="Microsoft YaHei"/>
                        </a:rPr>
                        <a:t>预计 10-03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49010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Ours 交付（+ 预训练 + Muon + λ8 + 移位）18.67M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128×10k + 3.2M 预训练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34.4063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0.9285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55.96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C107"/>
                          </a:solidFill>
                          <a:latin typeface="Microsoft YaHei"/>
                          <a:ea typeface="Microsoft YaHei"/>
                        </a:rPr>
                        <a:t>0.3534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68075" y="65817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1" name="" descr="&lt;Slide style={{ width: '1280px', height: '720px', padding: 0, background: '#FFFFFF' }}&gt;&#10;  &lt;Box style={{ position: 'absolute', top: 0, left: 0, right: 0, height: 10, background: '#0E3F8C' }} /&gt;&#10;&#10;  &lt;Box style={{ position: 'absolute', top: 30, left: 70, right: 70, flexDirection: 'column', gap: 5 }}&gt;&#10;    &lt;Text style={{ fontSize: 13, color: '#1E4FA8', letterSpacing: 4, fontWeight: 'bold' }}&gt;05 结论&lt;/Text&gt;&#10;    &lt;Text style={{ fontSize: 29, color: '#0E3F8C', fontWeight: 'bold' }}&gt;总结：方法、性能、以及后续工作&lt;/Text&gt;&#10;    &lt;Text style={{ fontSize: 13, color: '#4A5568' }}&gt;在官方协议下，本文结果已达 ×2 尺度的实测上限区间&lt;/Text&gt;&#10;  &lt;/Box&gt;&#10;&#10;  &lt;Box style={{ position: 'absolute', top: 114, left: 70, right: 70, height: 384, flexDirection: 'row', gap: 14 }}&gt;&#10;&#10;    &lt;Box style={{ flex: 1, background: '#0E3F8C', padding: 16, borderRadius: 4, flexDirection: 'column', gap: 10 }}&gt;&#10;      &lt;Text style={{ fontSize: 12, color: '#C7D9F2', letterSpacing: 3 }}&gt;01 · 方法&lt;/Text&gt;&#10;      &lt;Text style={{ fontSize: 19, color: '#FFFFFF', fontWeight: 'bold' }}&gt;不改结构地提升高频重建&lt;/Text&gt;&#10;      &lt;Text style={{ fontSize: 12, color: '#D9E6F7' }}&gt;主干在目标分辨率上直接运算，不做下采样；在此基础上增加高频子带损失与平移平均，并采用正交化优化器。&lt;/Text&gt;&#10;      &lt;Text style={{ fontSize: 12, color: '#D9E6F7' }}&gt;其中三项不增加推理开销；参数从 18.7M 放大到 72.5M 仅带来 0.05 dB 增益，说明瓶颈不在容量。&lt;/Text&gt;&#10;      &lt;Box style={{ flexDirection: 'row', flexWrap: 'wrap', gap: 6 }}&gt;&#10;        &lt;Box style={{ background: 'rgba(255,255,255,0.14)', padding: 5, borderRadius: 3, flexDirection: 'column', alignItems: 'center', width: 88 }}&gt;&#10;          &lt;Text style={{ fontSize: 18, color: '#FFC107', fontWeight: 'bold' }}&gt;34.41&lt;/Text&gt;&#10;          &lt;Text style={{ fontSize: 12, color: '#D9E6F7' }}&gt;PSNR-Y&lt;/Text&gt;&#10;        &lt;/Box&gt;&#10;        &lt;Box style={{ background: 'rgba(255,255,255,0.14)', padding: 5, borderRadius: 3, flexDirection: 'column', alignItems: 'center', width: 88 }}&gt;&#10;          &lt;Text style={{ fontSize: 18, color: '#FFC107', fontWeight: 'bold' }}&gt;0.9285&lt;/Text&gt;&#10;          &lt;Text style={{ fontSize: 12, color: '#D9E6F7' }}&gt;SSIM&lt;/Text&gt;&#10;        &lt;/Box&gt;&#10;        &lt;Box style={{ background: 'rgba(255,255,255,0.14)', padding: 5, borderRadius: 3, flexDirection: 'column', alignItems: 'center', width: 88 }}&gt;&#10;          &lt;Text style={{ fontSize: 18, color: '#FFC107', fontWeight: 'bold' }}&gt;55.96&lt;/Text&gt;&#10;          &lt;Text style={{ fontSize: 12, color: '#D9E6F7' }}&gt;MUSIQ&lt;/Text&gt;&#10;        &lt;/Box&gt;&#10;        &lt;Box style={{ background: 'rgba(255,255,255,0.14)', padding: 5, borderRadius: 3, flexDirection: 'column', alignItems: 'center', width: 88 }}&gt;&#10;          &lt;Text style={{ fontSize: 18, color: '#FFC107', fontWeight: 'bold' }}&gt;0.3534&lt;/Text&gt;&#10;          &lt;Text style={{ fontSize: 12, color: '#D9E6F7' }}&gt;MANIQA&lt;/Text&gt;&#10;        &lt;/Box&gt;&#10;      &lt;/Box&gt;&#10;      &lt;Text style={{ fontSize: 12.5, color: '#C7D9F2' }}&gt;18.7M 参数 · 相对同协议重训的 SwinIR-largeish：+1.44 dB / +0.023 SSIM / +9.2 MUSIQ / +0.048 MANIQA&lt;/Text&gt;&#10;    &lt;/Box&gt;&#10;&#10;    &lt;Box style={{ flex: 1, background: '#FFFFFF', padding: 16, border: '1px solid #D6DCE5', borderTop: '4px solid #0E3F8C', borderRadius: 4, flexDirection: 'column', gap: 8 }}&gt;&#10;      &lt;Text style={{ fontSize: 12, color: '#1E4FA8', letterSpacing: 3, fontWeight: 'bold' }}&gt;02 · 性能上限&lt;/Text&gt;&#10;      &lt;Text style={{ fontSize: 19, color: '#0E3F8C', fontWeight: 'bold' }}&gt;误差中的不可消除部分&lt;/Text&gt;&#10;      &lt;Box style={{ background: '#F0F5FC', padding: 10, borderRadius: 3, flexDirection: 'column', gap: 3 }}&gt;&#10;        &lt;Text style={{ fontSize: 12, color: '#4A5568' }}&gt;×2 实测可达区间&lt;/Text&gt;&#10;        &lt;Text style={{ fontSize: 23, color: '#0E3F8C', fontWeight: 'bold' }}&gt;34.4 – 35.7 dB&lt;/Text&gt;&#10;        &lt;Text style={{ fontSize: 12.5, color: '#4A5568' }}&gt;本文 34.41 dB，位于区间内&lt;/Text&gt;&#10;      &lt;/Box&gt;&#10;      &lt;Text style={{ fontSize: 12, color: '#1A2230' }}&gt;主要限制项是配准残差，而非带宽或噪声（噪声对应上限约 49 dB）。因此在 ×2 上继续提高保真指标的收益已经有限。&lt;/Text&gt;&#10;      &lt;Box style={{ background: '#FFF4E6', padding: 8, borderRadius: 3 }}&gt;&#10;        &lt;Text style={{ fontSize: 12, color: '#1A2230', fontWeight: 'bold' }}&gt;例外：×3 实测 31.13 dB，与上限（约 34.4 dB）相差约 3 dB，仍有提升空间。&lt;/Text&gt;&#10;      &lt;/Box&gt;&#10;    &lt;/Box&gt;&#10;&#10;    &lt;Box style={{ flex: 1, background: '#FFFFFF', padding: 16, border: '1px solid #D6DCE5', borderTop: '4px solid #FFC107', borderRadius: 4, flexDirection: 'column', gap: 8 }}&gt;&#10;      &lt;Text style={{ fontSize: 12, color: '#1E4FA8', letterSpacing: 3, fontWeight: 'bold' }}&gt;03 · 后续工作&lt;/Text&gt;&#10;      &lt;Text style={{ fontSize: 19, color: '#0E3F8C', fontWeight: 'bold' }}&gt;三个方向&lt;/Text&gt;&#10;      &lt;Box style={{ flexDirection: 'column', gap: 7 }}&gt;&#10;        &lt;Box style={{ background: '#F7F9FC', padding: 8, borderLeft: '3px solid #0E3F8C', borderRadius: 3 }}&gt;&#10;          &lt;Text style={{ fontSize: 12, color: '#1A2230', fontWeight: 'bold' }}&gt;将完整配方迁移到 ×3 与 ×4&lt;/Text&gt;&#10;          &lt;Text style={{ fontSize: 12.5, color: '#4A5568' }}&gt;目前完整配方仅在 ×2 上验证；×3 与上限相差约 3 dB&lt;/Text&gt;&#10;        &lt;/Box&gt;&#10;        &lt;Box style={{ background: '#F7F9FC', padding: 8, borderLeft: '3px solid #0E3F8C', borderRadius: 3 }}&gt;&#10;          &lt;Text style={{ fontSize: 12, color: '#1A2230', fontWeight: 'bold' }}&gt;将评价指标扩展到感知质量&lt;/Text&gt;&#10;          &lt;Text style={{ fontSize: 12.5, color: '#4A5568' }}&gt;补充 LPIPS / FID；但感知质量受训练数据规模限制，需先扩充数据&lt;/Text&gt;&#10;        &lt;/Box&gt;&#10;        &lt;Box style={{ background: '#F7F9FC', padding: 8, borderLeft: '3px solid #FFC107', borderRadius: 3 }}&gt;&#10;          &lt;Text style={{ fontSize: 12, color: '#1A2230', fontWeight: 'bold' }}&gt;补齐同协议基线&lt;/Text&gt;&#10;          &lt;Text style={{ fontSize: 12.5, color: '#4A5568' }}&gt;官方架构阶梯 8 臂已训完 7 臂，SRFormer 训练中；引用论文数字不进入主表&lt;/Text&gt;&#10;        &lt;/Box&gt;&#10;      &lt;/Box&gt;&#10;    &lt;/Box&gt;&#10;  &lt;/Box&gt;&#10;&#10;  &lt;Box style={{ position: 'absolute', bottom: 62, left: 70, right: 70, padding: 14, background: '#F0F5FC', borderLeft: '5px solid #0E3F8C', borderRadius: 4 }}&gt;&#10;    &lt;Text style={{ fontSize: 15, color: '#0E3F8C', fontWeight: 'bold' }}&gt;主要结论：在真实配对数据上，×2 尺度的保真度已接近其实测上限，性能差异主要来自模型结构与损失设计，而非模型容量。&lt;/Text&gt;&#10;  &lt;/Box&gt;&#10;&#10;  &lt;Box style={{ position: 'absolute', bottom: 24, left: 70, right: 70, flexDirection: 'row', justifyContent: 'space-between', borderTop: '1px solid #D6DCE5', paddingTop: 12 }}&gt;&#10;    &lt;Text style={{ fontSize: 12.5, color: '#8B97A8' }}&gt;RealSR 真实图像超分 · 课程项目汇报&lt;/Text&gt;&#10;    &lt;Text style={{ fontSize: 12, color: '#4A5568', fontWeight: 'bold' }}&gt;13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66750" y="285750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300">
                <a:solidFill>
                  <a:srgbClr val="1E4FA8"/>
                </a:solidFill>
                <a:latin typeface="Microsoft YaHei"/>
                <a:ea typeface="Microsoft YaHei"/>
              </a:rPr>
              <a:t xml:space="preserve">05 </a:t>
            </a:r>
            <a:r>
              <a:rPr lang="zh-CN" sz="975" b="1" spc="300">
                <a:solidFill>
                  <a:srgbClr val="1E4FA8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66750" y="485775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75" b="1">
                <a:solidFill>
                  <a:srgbClr val="0E3F8C"/>
                </a:solidFill>
                <a:latin typeface="Microsoft YaHei"/>
                <a:ea typeface="Microsoft YaHei"/>
              </a:rPr>
              <a:t>总结：方法、性能、以及后续工作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66750" y="866775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在官方协议下，本文结果已达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×2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尺度的实测上限区间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66750" y="1085850"/>
            <a:ext cx="3533775" cy="3657600"/>
          </a:xfrm>
          <a:prstGeom prst="roundRect">
            <a:avLst>
              <a:gd name="adj" fmla="val 107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19150" y="1238250"/>
            <a:ext cx="3228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C7D9F2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900" spc="225">
                <a:solidFill>
                  <a:srgbClr val="C7D9F2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19150" y="1476375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不改结构地提升高频重建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19150" y="1790700"/>
            <a:ext cx="32289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D9E6F7"/>
                </a:solidFill>
                <a:latin typeface="Microsoft YaHei"/>
                <a:ea typeface="Microsoft YaHei"/>
              </a:rPr>
              <a:t>主干在目标分辨率上直接运算，不做下采样；在此基础上增加高频子带损失与平移平均，并采用正交化优化器。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19150" y="2162175"/>
            <a:ext cx="32289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D9E6F7"/>
                </a:solidFill>
                <a:latin typeface="Microsoft YaHei"/>
                <a:ea typeface="Microsoft YaHei"/>
              </a:rPr>
              <a:t>其中三项不增加推理开销；参数从</a:t>
            </a: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 xml:space="preserve"> 18.7M </a:t>
            </a:r>
            <a:r>
              <a:rPr lang="zh-CN" sz="900">
                <a:solidFill>
                  <a:srgbClr val="D9E6F7"/>
                </a:solidFill>
                <a:latin typeface="Microsoft YaHei"/>
                <a:ea typeface="Microsoft YaHei"/>
              </a:rPr>
              <a:t>放大到</a:t>
            </a: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 xml:space="preserve"> 72.5M </a:t>
            </a:r>
            <a:r>
              <a:rPr lang="zh-CN" sz="900">
                <a:solidFill>
                  <a:srgbClr val="D9E6F7"/>
                </a:solidFill>
                <a:latin typeface="Microsoft YaHei"/>
                <a:ea typeface="Microsoft YaHei"/>
              </a:rPr>
              <a:t>仅带来</a:t>
            </a: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 xml:space="preserve"> 0.05 dB </a:t>
            </a:r>
            <a:r>
              <a:rPr lang="zh-CN" sz="900">
                <a:solidFill>
                  <a:srgbClr val="D9E6F7"/>
                </a:solidFill>
                <a:latin typeface="Microsoft YaHei"/>
                <a:ea typeface="Microsoft YaHei"/>
              </a:rPr>
              <a:t>增益，说明瓶颈不在容量。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819150" y="2533650"/>
            <a:ext cx="838200" cy="447675"/>
          </a:xfrm>
          <a:prstGeom prst="roundRect">
            <a:avLst>
              <a:gd name="adj" fmla="val 6383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09650" y="2581275"/>
            <a:ext cx="466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34.41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28700" y="2790825"/>
            <a:ext cx="428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>PSNR-Y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1714500" y="2533650"/>
            <a:ext cx="838200" cy="447675"/>
          </a:xfrm>
          <a:prstGeom prst="roundRect">
            <a:avLst>
              <a:gd name="adj" fmla="val 6383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857375" y="2581275"/>
            <a:ext cx="561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0.9285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990725" y="279082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>SSIM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2609850" y="2533650"/>
            <a:ext cx="838200" cy="447675"/>
          </a:xfrm>
          <a:prstGeom prst="roundRect">
            <a:avLst>
              <a:gd name="adj" fmla="val 6383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800350" y="2581275"/>
            <a:ext cx="466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55.96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838450" y="27908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>MUSIQ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819150" y="3038475"/>
            <a:ext cx="838200" cy="447675"/>
          </a:xfrm>
          <a:prstGeom prst="roundRect">
            <a:avLst>
              <a:gd name="adj" fmla="val 6383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62025" y="3086100"/>
            <a:ext cx="561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C107"/>
                </a:solidFill>
                <a:latin typeface="Microsoft YaHei"/>
                <a:ea typeface="Microsoft YaHei"/>
              </a:rPr>
              <a:t>0.3534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90600" y="32956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E6F7"/>
                </a:solidFill>
                <a:latin typeface="Microsoft YaHei"/>
                <a:ea typeface="Microsoft YaHei"/>
              </a:rPr>
              <a:t>MANIQA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19150" y="3581400"/>
            <a:ext cx="3228975" cy="285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38">
                <a:solidFill>
                  <a:srgbClr val="C7D9F2"/>
                </a:solidFill>
                <a:latin typeface="Microsoft YaHei"/>
                <a:ea typeface="Microsoft YaHei"/>
              </a:rPr>
              <a:t xml:space="preserve">18.7M </a:t>
            </a:r>
            <a:r>
              <a:rPr lang="zh-CN" sz="938">
                <a:solidFill>
                  <a:srgbClr val="C7D9F2"/>
                </a:solidFill>
                <a:latin typeface="Microsoft YaHei"/>
                <a:ea typeface="Microsoft YaHei"/>
              </a:rPr>
              <a:t>参数</a:t>
            </a:r>
            <a:r>
              <a:rPr lang="en-US" sz="938">
                <a:solidFill>
                  <a:srgbClr val="C7D9F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C7D9F2"/>
                </a:solidFill>
                <a:latin typeface="Microsoft YaHei"/>
                <a:ea typeface="Microsoft YaHei"/>
              </a:rPr>
              <a:t>相对同协议重训的</a:t>
            </a:r>
            <a:r>
              <a:rPr lang="en-US" sz="938">
                <a:solidFill>
                  <a:srgbClr val="C7D9F2"/>
                </a:solidFill>
                <a:latin typeface="Microsoft YaHei"/>
                <a:ea typeface="Microsoft YaHei"/>
              </a:rPr>
              <a:t xml:space="preserve"> SwinIR-largeish</a:t>
            </a:r>
            <a:r>
              <a:rPr lang="zh-CN" sz="938">
                <a:solidFill>
                  <a:srgbClr val="C7D9F2"/>
                </a:solidFill>
                <a:latin typeface="Microsoft YaHei"/>
                <a:ea typeface="Microsoft YaHei"/>
              </a:rPr>
              <a:t>：</a:t>
            </a:r>
            <a:r>
              <a:rPr lang="en-US" sz="938">
                <a:solidFill>
                  <a:srgbClr val="C7D9F2"/>
                </a:solidFill>
                <a:latin typeface="Microsoft YaHei"/>
                <a:ea typeface="Microsoft YaHei"/>
              </a:rPr>
              <a:t>+1.44 dB / +0.023 SSIM / +9.2 MUSIQ / +0.048 MANIQA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333875" y="1123950"/>
            <a:ext cx="3524250" cy="365760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333875" y="1123950"/>
            <a:ext cx="3524250" cy="3657600"/>
          </a:xfrm>
          <a:custGeom>
            <a:pathLst>
              <a:path w="370" h="384">
                <a:moveTo>
                  <a:pt x="366" y="0"/>
                </a:moveTo>
                <a:cubicBezTo>
                  <a:pt x="368" y="0"/>
                  <a:pt x="370" y="2"/>
                  <a:pt x="37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66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486275" y="1276350"/>
            <a:ext cx="3219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1E4FA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900" b="1" spc="225">
                <a:solidFill>
                  <a:srgbClr val="1E4FA8"/>
                </a:solidFill>
                <a:latin typeface="Microsoft YaHei"/>
                <a:ea typeface="Microsoft YaHei"/>
              </a:rPr>
              <a:t>性能上限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86275" y="149542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误差中的不可消除部分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486275" y="1790700"/>
            <a:ext cx="3219450" cy="800100"/>
          </a:xfrm>
          <a:prstGeom prst="roundRect">
            <a:avLst>
              <a:gd name="adj" fmla="val 3571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581525" y="1885950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 xml:space="preserve">×2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实测可达区间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581525" y="2057400"/>
            <a:ext cx="3028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>34.4 – 35.7 dB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581525" y="235267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本文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34.41 dB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，位于区间内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486275" y="2667000"/>
            <a:ext cx="32194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主要限制项是配准残差，而非带宽或噪声（噪声对应上限约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49 dB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）。因此在</a:t>
            </a:r>
            <a:r>
              <a:rPr lang="en-US" sz="900">
                <a:solidFill>
                  <a:srgbClr val="1A2230"/>
                </a:solidFill>
                <a:latin typeface="Microsoft YaHei"/>
                <a:ea typeface="Microsoft YaHei"/>
              </a:rPr>
              <a:t xml:space="preserve"> ×2 </a:t>
            </a:r>
            <a:r>
              <a:rPr lang="zh-CN" sz="900">
                <a:solidFill>
                  <a:srgbClr val="1A2230"/>
                </a:solidFill>
                <a:latin typeface="Microsoft YaHei"/>
                <a:ea typeface="Microsoft YaHei"/>
              </a:rPr>
              <a:t>上继续提高保真指标的收益已经有限。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486275" y="3019425"/>
            <a:ext cx="3219450" cy="428625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562475" y="3095625"/>
            <a:ext cx="306705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例外：×</a:t>
            </a: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实测</a:t>
            </a: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31.13 dB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，与上限（约</a:t>
            </a: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34.4 dB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）相差约</a:t>
            </a: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3 dB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，仍有提升空间。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991475" y="1123950"/>
            <a:ext cx="3533775" cy="3657600"/>
          </a:xfrm>
          <a:prstGeom prst="roundRect">
            <a:avLst>
              <a:gd name="adj" fmla="val 10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7991475" y="1123950"/>
            <a:ext cx="3533775" cy="3657600"/>
          </a:xfrm>
          <a:custGeom>
            <a:pathLst>
              <a:path w="371" h="384">
                <a:moveTo>
                  <a:pt x="367" y="0"/>
                </a:moveTo>
                <a:cubicBezTo>
                  <a:pt x="369" y="0"/>
                  <a:pt x="371" y="2"/>
                  <a:pt x="3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67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143875" y="1276350"/>
            <a:ext cx="3228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225">
                <a:solidFill>
                  <a:srgbClr val="1E4FA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900" b="1" spc="225">
                <a:solidFill>
                  <a:srgbClr val="1E4FA8"/>
                </a:solidFill>
                <a:latin typeface="Microsoft YaHei"/>
                <a:ea typeface="Microsoft YaHei"/>
              </a:rPr>
              <a:t>后续工作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143875" y="1495425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三个方向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172450" y="1790700"/>
            <a:ext cx="3228975" cy="43815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172450" y="1790700"/>
            <a:ext cx="3228975" cy="438150"/>
          </a:xfrm>
          <a:custGeom>
            <a:pathLst>
              <a:path w="339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48650" y="18669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将完整配方迁移到</a:t>
            </a: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×3 </a:t>
            </a: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9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×4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248650" y="2009775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目前完整配方仅在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×2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上验证；×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与上限相差约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3 dB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172450" y="2295525"/>
            <a:ext cx="3228975" cy="581025"/>
          </a:xfrm>
          <a:prstGeom prst="roundRect">
            <a:avLst>
              <a:gd name="adj" fmla="val 4918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8172450" y="2295525"/>
            <a:ext cx="3228975" cy="581025"/>
          </a:xfrm>
          <a:custGeom>
            <a:pathLst>
              <a:path w="339" h="61">
                <a:moveTo>
                  <a:pt x="3" y="61"/>
                </a:moveTo>
                <a:cubicBezTo>
                  <a:pt x="1" y="61"/>
                  <a:pt x="0" y="60"/>
                  <a:pt x="0" y="5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1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248650" y="2371725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将评价指标扩展到感知质量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248650" y="2514600"/>
            <a:ext cx="3048000" cy="285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补充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LPIPS / FID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；但感知质量受训练数据规模限制，需先扩充数据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172450" y="2943225"/>
            <a:ext cx="3228975" cy="581025"/>
          </a:xfrm>
          <a:prstGeom prst="roundRect">
            <a:avLst>
              <a:gd name="adj" fmla="val 4918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8172450" y="2943225"/>
            <a:ext cx="3228975" cy="581025"/>
          </a:xfrm>
          <a:custGeom>
            <a:pathLst>
              <a:path w="339" h="61">
                <a:moveTo>
                  <a:pt x="3" y="61"/>
                </a:moveTo>
                <a:cubicBezTo>
                  <a:pt x="1" y="61"/>
                  <a:pt x="0" y="60"/>
                  <a:pt x="0" y="5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1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2230"/>
                </a:solidFill>
                <a:latin typeface="Microsoft YaHei"/>
                <a:ea typeface="Microsoft YaHei"/>
              </a:rPr>
              <a:t>补齐同协议基线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248650" y="3162300"/>
            <a:ext cx="3048000" cy="285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官方架构阶梯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臂已训完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臂，</a:t>
            </a:r>
            <a:r>
              <a:rPr lang="en-US" sz="938">
                <a:solidFill>
                  <a:srgbClr val="4A5568"/>
                </a:solidFill>
                <a:latin typeface="Microsoft YaHei"/>
                <a:ea typeface="Microsoft YaHei"/>
              </a:rPr>
              <a:t xml:space="preserve">SRFormer </a:t>
            </a:r>
            <a:r>
              <a:rPr lang="zh-CN" sz="938">
                <a:solidFill>
                  <a:srgbClr val="4A5568"/>
                </a:solidFill>
                <a:latin typeface="Microsoft YaHei"/>
                <a:ea typeface="Microsoft YaHei"/>
              </a:rPr>
              <a:t>训练中；引用论文数字不进入主表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14375" y="5829300"/>
            <a:ext cx="10858500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714375" y="5829300"/>
            <a:ext cx="10858500" cy="438150"/>
          </a:xfrm>
          <a:custGeom>
            <a:pathLst>
              <a:path w="1140" h="46">
                <a:moveTo>
                  <a:pt x="5" y="46"/>
                </a:moveTo>
                <a:cubicBezTo>
                  <a:pt x="4" y="46"/>
                  <a:pt x="3" y="46"/>
                  <a:pt x="2" y="45"/>
                </a:cubicBezTo>
                <a:cubicBezTo>
                  <a:pt x="1" y="45"/>
                  <a:pt x="0" y="44"/>
                  <a:pt x="0" y="42"/>
                </a:cubicBezTo>
                <a:lnTo>
                  <a:pt x="0" y="42"/>
                </a:lnTo>
                <a:lnTo>
                  <a:pt x="0" y="4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47725" y="5962650"/>
            <a:ext cx="1054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主要结论：在真实配对数据上，×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尺度的保真度已接近其实测上限，性能差异主要来自模型结构与损失设计，而非模型容量。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66750" y="6362700"/>
            <a:ext cx="10858500" cy="276225"/>
          </a:xfrm>
          <a:custGeom>
            <a:pathLst>
              <a:path w="1140" h="29">
                <a:moveTo>
                  <a:pt x="0" y="0"/>
                </a:moveTo>
                <a:lnTo>
                  <a:pt x="1140" y="0"/>
                </a:lnTo>
                <a:lnTo>
                  <a:pt x="114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66750" y="6486525"/>
            <a:ext cx="1952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RealSR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真实图像超分</a:t>
            </a:r>
            <a:r>
              <a:rPr lang="en-US" sz="938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B97A8"/>
                </a:solidFill>
                <a:latin typeface="Microsoft YaHei"/>
                <a:ea typeface="Microsoft YaHei"/>
              </a:rPr>
              <a:t>课程项目汇报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134725" y="64865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4A5568"/>
                </a:solidFill>
                <a:latin typeface="Microsoft YaHei"/>
                <a:ea typeface="Microsoft YaHei"/>
              </a:rPr>
              <a:t>13 / 13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2026-10-02T17:44:58Z</dcterms:created>
  <dcterms:modified xsi:type="dcterms:W3CDTF">2026-10-02T17:44:58Z</dcterms:modified>
</cp:coreProperties>
</file>