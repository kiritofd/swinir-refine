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4E79"/>
                </a:solidFill>
              </a:defRPr>
            </a:pPr>
            <a:r>
              <a:t>Orthogonal-Frequency-Regularized Discriminative</a:t>
            </a:r>
            <a:br/>
            <a:r>
              <a:t>Regression for Real-World SR</a:t>
            </a:r>
          </a:p>
          <a:p>
            <a:pPr>
              <a:defRPr sz="2000">
                <a:solidFill>
                  <a:srgbClr val="606060"/>
                </a:solidFill>
              </a:defRPr>
            </a:pPr>
            <a:r>
              <a:t>RealSR (V3) · ×2 · official Test.m protocol</a:t>
            </a:r>
          </a:p>
          <a:p>
            <a:pPr>
              <a:defRPr sz="2600" b="1">
                <a:solidFill>
                  <a:srgbClr val="222222"/>
                </a:solidFill>
              </a:defRPr>
            </a:pPr>
            <a:r>
              <a:t>PSNR-Y 34.41 · SSIM 0.9285 · MUSIQ 55.96 · MANIQA 0.3534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Problem &amp; the honest protocol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RealSR = real camera zoom pairs (Canon 5D3 / Nikon D810); 390 train, 100 test.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Numbers are NOT comparable across papers — protocol differs: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 • Limited-range Y vs full-range RGB (Y is 0.4–0.8 dB lower)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 • border shave, test-subset choice, Protocol A (trained on RealSR) vs B (pretrained blind)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We report the STRICTEST form: Limited-range Y, uint8, modcrop4, NO shave, all 100 pairs.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Every external number in this deck carries a protocol tag.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Stride-1 U-Net regressor (no lossy downsample) + residual-bicubic, zero-init head → step-0 = bicubic.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Wavelet high-frequency loss: multi-scale L1 on orthogonal Haar HL/LH/HH subbands (λ≈8).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Shift-ensemble variant (avg over dyadic offsets) ≈ shift-invariance — best perceptual arm.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Muon optimizer (Newton–Schulz orthogonalised updates; AdamW on 1-D), lr 5e-3.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BSRGAN synthetic-degradation pretraining → RealSR finetune; D4 8-fold TTA at inference.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Results — official paired protocol (100 pairs)</a:t>
            </a:r>
          </a:p>
          <a:p>
            <a:pPr>
              <a:defRPr sz="1400">
                <a:solidFill>
                  <a:srgbClr val="606060"/>
                </a:solidFill>
              </a:defRPr>
            </a:pPr>
            <a:r>
              <a:t>vs re-trained SwinIR: +1.44 dB · +0.023 SSIM · +9.2 MUSIQ · +0.048 MANIQA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6731"/>
                <a:gridCol w="1606731"/>
                <a:gridCol w="1606731"/>
                <a:gridCol w="1606731"/>
                <a:gridCol w="1606731"/>
                <a:gridCol w="1606731"/>
                <a:gridCol w="1606734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Params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PSNR-Y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SSIM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MUSIQ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MANIQA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Bicubic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floor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31.73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0.8876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39.40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0.278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SwinIR-light (re-trained)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0.61M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0.9026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45.43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0.302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SwinIR-largeish (re-trained)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3.96M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0.9058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46.79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0.305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E11 Mod-SwinIR (Align-L1)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4.05M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33.47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0.9143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49.15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0.309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EDSR-baseline (repro.)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1.19M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33.60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0.9167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53.14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0.327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latent rectified-flow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Generative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32.9M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28.36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0.790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50.12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0.224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Ours (full recipe + TTA)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U-Net stride-1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18.7M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34.41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0.9285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55.96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0.3534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Baselines: reproduced vs cited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Reproduced in-repo on the SAME protocol (A-strict): SwinIR (light/largeish), EDSR-baseline;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 RCAN / SRResNet / RRDB in the reproduction pipeline (docs/baseline).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Cited with protocol tags (not compared): BSRGAN/Real-ESRGAN (D-blind);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   StableSR/DiffBIR/SeeSR/ResShift/SinSR/OSEDiff/AdcSR/TSD-SR/TinySR/PURE/RealSR-R1 (B/C protocols).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Their RealSR PSNR sits at 22.6–26.3 dB on a synthetically re-degraded input — a different task.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Ablations (Δ PSNR-Y)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Δ PSNR-Y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Perceptual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Cost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stride-2 → stride-1 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fewer params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 wavelet-HF loss (λ8)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MUSIQ/MANIQA 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zero inference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 shift-ensemble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MUSIQ 56.0 (best)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zero inference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 Muon (5e-3)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zero inference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 BSRGAN pretrain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6× wall-clock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 TTA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SSIM/MANIQA 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8× inference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capacity 5M → 72.5M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saturates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~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linear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The empirical ceiling (training-free, no model)</a:t>
            </a:r>
          </a:p>
          <a:p>
            <a:pPr>
              <a:defRPr sz="1400">
                <a:solidFill>
                  <a:srgbClr val="606060"/>
                </a:solidFill>
              </a:defRPr>
            </a:pPr>
            <a:r>
              <a:t>×2 is registration-limited; our 34.41 sits inside 34.4–35.7. Corrects the '38–40 dB noise floor' folklore.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45920"/>
          <a:ext cx="112471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wall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×2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×3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×4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Registration E_align (0.3px shift)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37.7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Band-limit E_null (LP to LR Nyquist)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34.55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31.27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Sensor noise E_noise (MAD σ≈0.9/255)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49.05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49.05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49.05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composite (bandlimit+noise)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31.2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+ 0.3px residual registration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35.7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~32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~29.5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Perception–distortion tradeoff, reproduced in-house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Same test set, same protocol: regression 34.41 dB / 0.9285 SSIM  vs  generative 28.36 dB / 0.790 SSIM.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Generative trades ~6 dB fidelity for higher no-reference IQA (Blau &amp; Michaeli, CVPR 2018).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On RealSR: the fidelity frontier is capped by physics (registration),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the realism frontier is capped by the 390-pair data budget.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→ Practical conclusion: PSNR has no sustainable headroom at ×2; the future is perceptual.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Negative results (all evaluated, all reported)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Reporting 28+ runs that did NOT help — same protocol, honest verdicts.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Mamba/VSS: −2.3 dB at equal sample budget (memory-bound scan, poor sample efficiency).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Dual-branch wavelet U-Net, DTCWT basis, D4 equivariance, coord injection, freq-routing, gated FFN.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Frequency-domain rectified flow (HF residual generation): monotone image destruction; judged negative.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Adversarial degradation mining (N3, with Muon): neutral — does not break the plateau.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A recipe wins: stride-1 + wavelet-HF(+shift) + Muon + BSRGAN pretrain + TTA → 34.41 dB / 0.9285 SSIM.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PSNR at ×2 is physics-capped (~34.4–35.7 dB): registration, not noise, is the wall.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×3/×4 are lighter-tuned and still have headroom — the open next step on the fidelity axis.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Beyond that: perceptual metrics (MUSIQ/LPIPS/FID) are where the remaining gains live.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Full chronicle: exp/FINAL_REPORT.md · baselines: docs/baseline/ · ceiling tool: diffusion/oracle.py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4E79"/>
                </a:solidFill>
              </a:defRPr>
            </a:pPr>
            <a: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Cai et al., RealSR / LP-KPN, ICCV 2019.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Liang et al., SwinIR, ICCV-W 2021.  Lim et al., EDSR, CVPR-W 2017.  Zhang et al., RCAN, ECCV 2018.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Wang et al., ESRGAN, ECCV-W 2018.  Zhang et al., BSRGAN, ICCV 2021.  Wang et al., Real-ESRGAN, ICCV-W 2021.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Qiao et al., RealSR-R1, arXiv:2506.16796, 2025.  TinySR, arXiv:2508.17434, 2025.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Blau &amp; Michaeli, Perception-Distortion Tradeoff, CVPR 2018 (DOI 10.1109/CVPR.2018.00652).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Baker &amp; Kanade, Limits on SR, TPAMI 2002 (DOI 10.1109/TPAMI.2002.1033210).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Robinson &amp; Milanfar, TIP 2004/2006.  Chatterjee &amp; Milanfar, TIP 2010.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