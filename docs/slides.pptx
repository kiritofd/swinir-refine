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32004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Orthogonal-Frequency-Regularized Discriminative Regression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for Real-World Single-Image Super-Resolution</a:t>
            </a:r>
          </a:p>
          <a:p>
            <a:r>
              <a:t> </a:t>
            </a:r>
          </a:p>
          <a:p>
            <a:pPr>
              <a:defRPr sz="1400">
                <a:solidFill>
                  <a:srgbClr val="C7D6E5"/>
                </a:solidFill>
              </a:defRPr>
            </a:pPr>
            <a:r>
              <a:t>RealSR (V3) · ×2 · official Test.m (Limited-range Y, no shave, 100 pairs)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t>PSNR-Y 34.41   ·   SSIM 0.9285   ·   MUSIQ 55.96   ·   MANIQA 0.3534   (18.7M params)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Results on the official paired protocol</a:t>
            </a:r>
          </a:p>
          <a:p>
            <a:pPr>
              <a:defRPr sz="1300">
                <a:solidFill>
                  <a:srgbClr val="C7D6E5"/>
                </a:solidFill>
              </a:defRPr>
            </a:pPr>
            <a:r>
              <a:t>Ours tops every fidelity/structure metric; dashed line = our result</a:t>
            </a:r>
          </a:p>
        </p:txBody>
      </p:sp>
      <p:pic>
        <p:nvPicPr>
          <p:cNvPr id="3" name="Picture 2" descr="fi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881360" cy="399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06060"/>
                </a:solidFill>
              </a:defRPr>
            </a:pPr>
            <a:r>
              <a:t>Reproduced baselines share our exact A-strict protocol.  vs re-trained SwinIR: +1.44 dB / +0.023 SSIM / +9.2 MUSIQ / +0.048 MANIQA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RealSR ×2 · Real-World SR · stride-1 + wavelet-HF + Muon + TTA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Results — official paired protocol (100 pairs)</a:t>
            </a:r>
          </a:p>
          <a:p>
            <a:pPr>
              <a:defRPr sz="1300">
                <a:solidFill>
                  <a:srgbClr val="C7D6E5"/>
                </a:solidFill>
              </a:defRPr>
            </a:pPr>
            <a:r>
              <a:t>Limited-range Y · uint8 · modcrop4 · no shave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Params</a:t>
                      </a:r>
                    </a:p>
                  </a:txBody>
                  <a:tcPr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PSNR-Y</a:t>
                      </a:r>
                    </a:p>
                  </a:txBody>
                  <a:tcPr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SSIM</a:t>
                      </a:r>
                    </a:p>
                  </a:txBody>
                  <a:tcPr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MUSIQ</a:t>
                      </a:r>
                    </a:p>
                  </a:txBody>
                  <a:tcPr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MANIQA</a:t>
                      </a:r>
                    </a:p>
                  </a:txBody>
                  <a:tcPr marT="45720" marB="45720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Bicubic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floor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31.73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0.8876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39.40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SwinIR-light (re-trained)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Transformer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0.61M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32.88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0.9026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45.43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0.302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SwinIR-largeish (re-trained)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3.96M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32.97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46.79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E11 Mod-SwinIR (Align-L1)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Transformer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4.05M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33.47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0.9143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49.15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0.309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EDSR-baseline (repro.)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1.19M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33.60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53.14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s1_b64 (AdamW, zero-pretrain)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U-Net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18.7M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34.11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0.9246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55.22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0.342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latent rectified-flow (ours)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Generative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32.9M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28.36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50.12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Ours (full recipe + TTA)</a:t>
                      </a:r>
                    </a:p>
                  </a:txBody>
                  <a:tcPr>
                    <a:solidFill>
                      <a:srgbClr val="FBE5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U-Net stride-1</a:t>
                      </a:r>
                    </a:p>
                  </a:txBody>
                  <a:tcPr>
                    <a:solidFill>
                      <a:srgbClr val="FBE5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18.7M</a:t>
                      </a:r>
                    </a:p>
                  </a:txBody>
                  <a:tcPr>
                    <a:solidFill>
                      <a:srgbClr val="FBE5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34.41</a:t>
                      </a:r>
                    </a:p>
                  </a:txBody>
                  <a:tcPr>
                    <a:solidFill>
                      <a:srgbClr val="FBE5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0.9285</a:t>
                      </a:r>
                    </a:p>
                  </a:txBody>
                  <a:tcPr>
                    <a:solidFill>
                      <a:srgbClr val="FBE5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55.96</a:t>
                      </a:r>
                    </a:p>
                  </a:txBody>
                  <a:tcPr>
                    <a:solidFill>
                      <a:srgbClr val="FBE5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0.3534</a:t>
                      </a:r>
                    </a:p>
                  </a:txBody>
                  <a:tcPr>
                    <a:solidFill>
                      <a:srgbClr val="FBE5A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RealSR ×2 · Real-World SR · stride-1 + wavelet-HF + Muon + TTA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Method — one recipe, four levers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Stride-1 U-Net regressor — no lossy downsample in the trunk; residual-bicubic with a</a:t>
            </a:r>
          </a:p>
          <a:p>
            <a:pPr lvl="1">
              <a:spcAft>
                <a:spcPts val="400"/>
              </a:spcAft>
              <a:defRPr sz="1500">
                <a:solidFill>
                  <a:srgbClr val="444444"/>
                </a:solidFill>
              </a:defRPr>
            </a:pPr>
            <a:r>
              <a:t>zero-init head (step-0 = exact bicubic).  Biggest single lever (+0.38 dB).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Orthogonal wavelet high-frequency loss — multi-scale L1 on Haar HL/LH/HH (λ≈8);</a:t>
            </a:r>
          </a:p>
          <a:p>
            <a:pPr lvl="1">
              <a:spcAft>
                <a:spcPts val="400"/>
              </a:spcAft>
              <a:defRPr sz="1500">
                <a:solidFill>
                  <a:srgbClr val="444444"/>
                </a:solidFill>
              </a:defRPr>
            </a:pPr>
            <a:r>
              <a:t>counters L1's mean-shrinkage of the high band at zero inference cost.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Shift-ensemble of that loss (avg over dyadic offsets) ≈ shift-invariance — best perceptual arm.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Muon optimizer (Newton–Schulz orthogonalised ≥2D updates) lr 5e-3 — beats AdamW at every lr.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BSRGAN synthetic pretrain → RealSR finetune; D4 8-fold test-time augmentation.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RealSR ×2 · Real-World SR · stride-1 + wavelet-HF + Muon + TTA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What actually moves RealSR ×2</a:t>
            </a:r>
          </a:p>
        </p:txBody>
      </p:sp>
      <p:pic>
        <p:nvPicPr>
          <p:cNvPr id="3" name="Picture 2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881360" cy="4904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06060"/>
                </a:solidFill>
              </a:defRPr>
            </a:pPr>
            <a:r>
              <a:t>One change at a time, identical protocol. Mechanism levers (architecture + frequency loss) dominate; extra capacity saturates.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RealSR ×2 · Real-World SR · stride-1 + wavelet-HF + Muon + TTA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The empirical ceiling (training-free, no model)</a:t>
            </a:r>
          </a:p>
          <a:p>
            <a:pPr>
              <a:defRPr sz="1300">
                <a:solidFill>
                  <a:srgbClr val="C7D6E5"/>
                </a:solidFill>
              </a:defRPr>
            </a:pPr>
            <a:r>
              <a:t>diffusion/oracle.py — the three physical walls of RealSR</a:t>
            </a:r>
          </a:p>
        </p:txBody>
      </p:sp>
      <p:pic>
        <p:nvPicPr>
          <p:cNvPr id="3" name="Picture 2" descr="fig_cei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881360" cy="399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06060"/>
                </a:solidFill>
              </a:defRPr>
            </a:pPr>
            <a:r>
              <a:t>Registration is the binding wall: at 0.3–0.4 px residual misalignment the ceiling is 34.4–35.7 dB — our 34.41 sits inside it. Corrects the “38–40 dB noise floor” folklore (noise is small here).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RealSR ×2 · Real-World SR · stride-1 + wavelet-HF + Muon + TTA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Perception–distortion tradeoff, reproduced in-house</a:t>
            </a:r>
          </a:p>
        </p:txBody>
      </p:sp>
      <p:pic>
        <p:nvPicPr>
          <p:cNvPr id="3" name="Picture 2" descr="fig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881360" cy="60622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06060"/>
                </a:solidFill>
              </a:defRPr>
            </a:pPr>
            <a:r>
              <a:t>Same test set &amp; protocol: our regression is at the fidelity frontier; our own generative arm pays ~6 dB for no-reference IQA — the Blau–Michaeli law made concrete on RealSR.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RealSR ×2 · Real-World SR · stride-1 + wavelet-HF + Muon + TTA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Baselines: reproduced vs cited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Reproduced in-repo, SAME protocol (A-strict):</a:t>
            </a:r>
          </a:p>
          <a:p>
            <a:pPr lvl="1">
              <a:spcAft>
                <a:spcPts val="400"/>
              </a:spcAft>
              <a:defRPr sz="1500">
                <a:solidFill>
                  <a:srgbClr val="444444"/>
                </a:solidFill>
              </a:defRPr>
            </a:pPr>
            <a:r>
              <a:t>SwinIR (light/largeish) · EDSR-baseline ✓ · RCAN / SRResNet / RRDB (pipeline).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Cited with an explicit protocol tag, never mixed into a claim:</a:t>
            </a:r>
          </a:p>
          <a:p>
            <a:pPr lvl="1">
              <a:spcAft>
                <a:spcPts val="400"/>
              </a:spcAft>
              <a:defRPr sz="1500">
                <a:solidFill>
                  <a:srgbClr val="444444"/>
                </a:solidFill>
              </a:defRPr>
            </a:pPr>
            <a:r>
              <a:t>GAN real-ISR: BSRGAN · Real-ESRGAN · LDL · FeMaSR  (D-blind / B-128/512).</a:t>
            </a:r>
          </a:p>
          <a:p>
            <a:pPr lvl="1">
              <a:spcAft>
                <a:spcPts val="400"/>
              </a:spcAft>
              <a:defRPr sz="1500">
                <a:solidFill>
                  <a:srgbClr val="444444"/>
                </a:solidFill>
              </a:defRPr>
            </a:pPr>
            <a:r>
              <a:t>Diffusion: StableSR · DiffBIR · SeeSR · ResShift · SinSR · OSEDiff · AdcSR ·</a:t>
            </a:r>
          </a:p>
          <a:p>
            <a:pPr lvl="1">
              <a:spcAft>
                <a:spcPts val="400"/>
              </a:spcAft>
              <a:defRPr sz="1500">
                <a:solidFill>
                  <a:srgbClr val="444444"/>
                </a:solidFill>
              </a:defRPr>
            </a:pPr>
            <a:r>
              <a:t>TSD-SR · TinySR · PURE · RealSR-R1  — 22.6–28.7 dB on a synthetically re-degraded</a:t>
            </a:r>
          </a:p>
          <a:p>
            <a:pPr lvl="1">
              <a:spcAft>
                <a:spcPts val="400"/>
              </a:spcAft>
              <a:defRPr sz="1500">
                <a:solidFill>
                  <a:srgbClr val="444444"/>
                </a:solidFill>
              </a:defRPr>
            </a:pPr>
            <a:r>
              <a:t>RealSR (a harder/different input).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Full table + sources: docs/baseline/README.md  ·  citations: exp/RELATED_WORK_AND_UPPER_BOUND.md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RealSR ×2 · Real-World SR · stride-1 + wavelet-HF + Muon + TTA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Negative results — 28+ arms, all reported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Discriminative-capacity ceiling: capacity 5M→72.5M and pyramid flattening: saturating/negative.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Mamba / VSS scan backbone: −2.3 dB at equal sample budget (memory-bound, poor sample efficiency).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Loss/geometry regularisers tried &amp; rejected: D4 equivariance, coord injection, freq-routing, gated FFN.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Frequency experiments: bijective wavelet U-Net, dual-branch wavelet U-Net, DTCWT basis — none beat</a:t>
            </a:r>
          </a:p>
          <a:p>
            <a:pPr lvl="1">
              <a:spcAft>
                <a:spcPts val="400"/>
              </a:spcAft>
              <a:defRPr sz="1500">
                <a:solidFill>
                  <a:srgbClr val="444444"/>
                </a:solidFill>
              </a:defRPr>
            </a:pPr>
            <a:r>
              <a:t>the plain wavelet-HF loss + shift-ensemble.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Generative: pixel/latent diffusion, frequency-domain rectified flow (HF residual), adversarial data</a:t>
            </a:r>
          </a:p>
          <a:p>
            <a:pPr lvl="1">
              <a:spcAft>
                <a:spcPts val="400"/>
              </a:spcAft>
              <a:defRPr sz="1500">
                <a:solidFill>
                  <a:srgbClr val="444444"/>
                </a:solidFill>
              </a:defRPr>
            </a:pPr>
            <a:r>
              <a:t>mining (N3) — fidelity collapses or plateau (consistent with the ceiling).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Lesson: at 390 real pairs, discriminative regression already captures the recoverable signal.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RealSR ×2 · Real-World SR · stride-1 + wavelet-HF + Muon + TTA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Why protocol discipline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RealSR numbers are inconsistent across papers: Limited-range Y vs full-range RGB</a:t>
            </a:r>
          </a:p>
          <a:p>
            <a:pPr lvl="1">
              <a:spcAft>
                <a:spcPts val="400"/>
              </a:spcAft>
              <a:defRPr sz="1500">
                <a:solidFill>
                  <a:srgbClr val="444444"/>
                </a:solidFill>
              </a:defRPr>
            </a:pPr>
            <a:r>
              <a:t>(Y ≈ 0.4–0.8 dB lower), border shave, test subset, and Protocol A vs B.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We report the strictest form and tag every external figure (A-strict / B-128-512 / C-REdeg / D-blind).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Pretrained blind weights (Real-ESRGAN etc.) and diffusion SOTA are a different task on a</a:t>
            </a:r>
          </a:p>
          <a:p>
            <a:pPr lvl="1">
              <a:spcAft>
                <a:spcPts val="400"/>
              </a:spcAft>
              <a:defRPr sz="1500">
                <a:solidFill>
                  <a:srgbClr val="444444"/>
                </a:solidFill>
              </a:defRPr>
            </a:pPr>
            <a:r>
              <a:t>re-degraded input — comparing them to a paired-protocol PSNR would be misleading.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Takeaway: our headline is a defensible same-protocol result, not a leaderboard number.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RealSR ×2 · Real-World SR · stride-1 + wavelet-HF + Muon + TTA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Conclusions &amp;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A recipe wins: stride-1 + wavelet-HF(+shift) + Muon + BSRGAN pretrain + TTA → 34.41 dB / 0.9285 SSIM.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×2 PSNR is physics-capped (~34.4–35.7 dB, registration) — we are at the ceiling, not model-capped.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Open fidelity headroom is at ×3/×4 (lighter-tuned here): 31.13 vs ceiling 34.4 (×3).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Beyond fidelity: the frontier is perceptual (MUSIQ / LPIPS / FID) and data-limited at this scale.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Reproduce:  README §9  ·  measure the ceiling: python -m diffusion.oracle --scale 2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Artefacts: exp/FINAL_REPORT.md · docs/baseline/ · docs/figs · this deck (docs/slides.pptx).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RealSR ×2 · Real-World SR · stride-1 + wavelet-HF + Muon + TTA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Cai et al., RealSR / LP-KPN, ICCV 2019.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Liang et al., SwinIR, ICCV-W 2021 · Lim et al., EDSR, CVPR-W 2017 · Zhang et al., RCAN, ECCV 2018.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Wang et al., ESRGAN, ECCV-W 2018 · Zhang et al., BSRGAN, ICCV 2021 · Wang et al., Real-ESRGAN, ICCV-W 2021.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Qiao et al., RealSR-R1, arXiv:2506.16796 (2025) · TinySR, arXiv:2508.17434 (2025) — baseline tables.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Blau &amp; Michaeli, The Perception-Distortion Tradeoff, CVPR 2018 (DOI 10.1109/CVPR.2018.00652).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Baker &amp; Kanade, Limits on Super-Resolution..., IEEE TPAMI 2002 (DOI 10.1109/TPAMI.2002.1033210).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Robinson &amp; Milanfar, Fundamental Limits in Image Registration (TIP 2004) &amp; Statistical SR (TIP 2006).</a:t>
            </a:r>
          </a:p>
          <a:p>
            <a:pPr>
              <a:spcAft>
                <a:spcPts val="900"/>
              </a:spcAft>
              <a:defRPr sz="1700">
                <a:solidFill>
                  <a:srgbClr val="222222"/>
                </a:solidFill>
              </a:defRPr>
            </a:pPr>
            <a:r>
              <a:t>Chatterjee &amp; Milanfar, Is Denoising Dead?, IEEE TIP 2010 · Zhou et al., Updating the Evaluation of SR, CVPR 2021.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RealSR ×2 · Real-World SR · stride-1 + wavelet-HF + Muon + TTA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