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737360"/>
            <a:ext cx="12191695" cy="3291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真实世界单帧图像超分辨率</a:t>
            </a:r>
          </a:p>
          <a:p>
            <a:pPr>
              <a:defRPr sz="2200" b="1">
                <a:solidFill>
                  <a:srgbClr val="D6E3F0"/>
                </a:solidFill>
              </a:defRPr>
            </a:pPr>
            <a:r>
              <a:t>—— 正交小波高频损失 + Muon 优化的判别式回归方法</a:t>
            </a:r>
          </a:p>
          <a:p>
            <a:r>
              <a:t> </a:t>
            </a:r>
          </a:p>
          <a:p>
            <a:pPr>
              <a:defRPr sz="1400">
                <a:solidFill>
                  <a:srgbClr val="C7D6E5"/>
                </a:solidFill>
              </a:defRPr>
            </a:pPr>
            <a:r>
              <a:t>数据集：RealSR (V3) · 放大倍率 ×2 · 官方 Test.m 协议（有限量程 Y / 不剃边 / 100 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4E79"/>
                </a:solidFill>
              </a:defRPr>
            </a:pPr>
            <a:r>
              <a:t>PSNR-Y 34.41 dB   ·   SSIM 0.9285   ·   MUSIQ 55.96   ·   MANIQA 0.3534   （参数量 18.7M）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报告结构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Intro → Related Works → Method →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</a:defRPr>
            </a:pPr>
            <a:r>
              <a:t>一、引言（问题本身）：真实相机变焦配对超分，为什么 PSNR 有硬上限</a:t>
            </a:r>
          </a:p>
          <a:p>
            <a:pPr lvl="1">
              <a:spcAft>
                <a:spcPts val="300"/>
              </a:spcAft>
              <a:defRPr sz="1500">
                <a:solidFill>
                  <a:srgbClr val="444444"/>
                </a:solidFill>
              </a:defRPr>
            </a:pPr>
            <a:r>
              <a:t>三大不可约误差：信息零空间 / 传感器噪声 / 亚像素配准残差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</a:defRPr>
            </a:pPr>
            <a:r>
              <a:t>二、相关工作：判别式 CNN/Transformer、GAN 真实超分、扩散式、感知-失真权衡理论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</a:defRPr>
            </a:pPr>
            <a:r>
              <a:t>三、方法（从数学与问题本质出发）：stride-1 回归、正交小波高频损失、移位集成、Muon、预训练与 TTA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</a:defRPr>
            </a:pPr>
            <a:r>
              <a:t>四、实验（高密度结果）：全方法全指标大表、消融、经验上限实测、跨尺度、负结果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一、引言：问题的本质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RealSR 是「用一台相机拍两张不同焦距照片」得到的真实配对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任务：输入真实低清 x↓（短焦），输出高清 y（长焦，配准后），最小像素误差同时保留真实高频。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与合成分辨率（bicubic 退化）的根本不同：退化未知、非平稳、含真实噪声与镜头畸变，</a:t>
            </a:r>
          </a:p>
          <a:p>
            <a:pPr lvl="1">
              <a:spcAft>
                <a:spcPts val="300"/>
              </a:spcAft>
              <a:defRPr sz="1400">
                <a:solidFill>
                  <a:srgbClr val="444444"/>
                </a:solidFill>
              </a:defRPr>
            </a:pPr>
            <a:r>
              <a:t>因此 bicubic 之后 HR 仍留有「真实高频相位」，但高于奈奎斯特的信息已被物理摧毁。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目标定位：本项目做的是「判别式回归」路线——最大化保真度，而非生成式「造出合理高频」。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核心问题：这份数据集在像素保真（PSNR）上的天花板到底在哪？我们离它还有多远？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一、引言：误差分解与理论上限（本文立论基础）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MSE_total = E_null + E_noise + E_align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① 信息零空间 E_null：下采样按奈奎斯特定理抹除高频，网络只能「猜」，无法复原（Baker &amp; Kanade, TPAMI 2002）。</a:t>
            </a:r>
          </a:p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② 独立传感器噪声 E_noise：GT 自身带暗电流/散粒噪声（随机不可知，aleatoric），完美模型也预测不了那一瞬的噪声（Chatterjee &amp; Milanfar, TIP 2010）。</a:t>
            </a:r>
          </a:p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③ 配准残差 E_align：变焦双镜头光学透视/畸变不同，标定后仍余 0.2–0.5px 非刚性错位；PSNR 对亚像素位移极敏感（Robinson &amp; Milanfar, TIP 2004）。</a:t>
            </a:r>
          </a:p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结论（后由免训练实测证实，见 §四）：真实 SR 的 PSNR 上限是有限值，且在此数据上由「配准」主导；</a:t>
            </a:r>
          </a:p>
          <a:p>
            <a:pPr lvl="1">
              <a:spcAft>
                <a:spcPts val="300"/>
              </a:spcAft>
              <a:defRPr sz="1250">
                <a:solidFill>
                  <a:srgbClr val="444444"/>
                </a:solidFill>
              </a:defRPr>
            </a:pPr>
            <a:r>
              <a:t>换言之——不是模型不够大，是物理不允许。本报告的核心贡献即「测量并逼近这个上限」。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二、相关工作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按方法与评测协议两条线梳理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判别式 CNN：VDSR/EDSR/RCAN/RDN — 追求 PSNR，但基于合成退化，真实场景偏糊。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判别式 Transformer：SwinIR(HAT 等) — 全局注意力更强表达，真实超分重训后仍是保真主力。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真实退化先验：BSRGAN / Real-ESRGAN — 二阶合成退化训练，泛化但非配对最优。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生成式（GAN/扩散）：StableSR / DiffBIR / SeeSR / ResShift / OSEDiff / SinSR / AdcSR / TSD-SR / PURE / RealSR-R1 …</a:t>
            </a:r>
          </a:p>
          <a:p>
            <a:pPr lvl="1"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感知更强、但 PSNR 常暴跌 6–10 dB：受感知-失真权衡支配（Blau &amp; Michaeli, CVPR 2018）。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理论：SR 极限与配准统计界（Baker&amp;Kanade 2002；Robinson&amp;Milanfar 2004/2006）；去噪 CRLB（Chatterjee&amp;Milanfar 2010）。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二、相关工作：本工作的定位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在「同协议、判别式」坐标系里做到保真前沿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与「刷指标」路线相反：我们不引入外部大数据、不用扩散，只在 RealSR 训练域内做机制创新。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把力气花在数学上讲得通的地方：正交小波高频损失（而非全局 FFT 增益）、相位保真的 stride-1、正交化的 Muon 优化。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并给出可证伪的经验上限：用免训练探针量出三堵墙，证明 34.41 dB 已接近数据集天花板。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与扩散 SOTA 不直接比 PSNR（协议/输入不同），只做定性对照 + 我们自有生成臂的同协议实证权衡。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三、方法 · 总体形式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以「双三次上采 + 残差学习」为骨架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回归目标：ŷ = B(x↓) + f_θ(x↓ , θ)，B 为 bicubic 上采样，f_θ 学「高频残差」。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训练损失：L(θ) = ‖ŷ − y‖₁ + λ · L_HF(ŷ, y)   ——主 L1 + 小波高频子带项（见下页）。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关键设计1 零初始化输出头：f_θ 末层置 0 ⇒ 训练起点 ŷ ≡ B(x↓)，即「bicubic 地板不变量」，任何劣化都可被早停挡住。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关键设计2 stride-1：主干全程在 HR 尺度运算（不 lossy 下采样），保住高频相位——实测 +0.38 dB（本工作最大单项增益）。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评价协议：训练 RGB、测试有限量程 Y（BT.601），uint8，modcrop4，不剃边，100 对全量。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三、方法 · 正交小波高频损失（核心创新）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为什么是「正交 + 局部」的小波，而非 FFT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动机（数学）：L1 回归的最优解是条件均值 E[y|x]，它对高频「取平均」⇒ 过糊；需显式抬高频子带。</a:t>
            </a:r>
          </a:p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做法：对 HR 与 ŷ 各做 J 级正交 Haar DWT，仅惩罚高频子带 HL/LH/HH：</a:t>
            </a:r>
          </a:p>
          <a:p>
            <a:pPr lvl="1">
              <a:spcAft>
                <a:spcPts val="300"/>
              </a:spcAft>
              <a:defRPr sz="1250">
                <a:solidFill>
                  <a:srgbClr val="444444"/>
                </a:solidFill>
              </a:defRPr>
            </a:pPr>
            <a:r>
              <a:t>L_HF = Σ_{j=1..J} Σ_{dir∈{HL,LH,HH}} ‖ W_dir^{(j)}(ŷ) − W_dir^{(j)}(y) ‖₁ ，总损失权重 λ（×2 最优 λ≈8）。</a:t>
            </a:r>
          </a:p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为什么正交：Parseval 保能量 ⇒ 子带 L1 是像素 L1 的「无损重分配」，只改变频率侧重，不引入伪能量（FFT 全局基不满足，已证伪）。</a:t>
            </a:r>
          </a:p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为什么局部：小波基紧支撑，可表达镜头非平稳退化；全局傅里叶增益会失稳（Wiener/AmpPhase/RadialPSF 全部失败）。</a:t>
            </a:r>
          </a:p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推理零成本：只改损失不改网络，训练完即免费。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三、方法 · 移位集成（DTCWT 平移不变性的廉价替身）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Haar 子带是平移敏感的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问题：一次 Haar 分解中，1px 平移会把边缘能量在 HL/LH/HH 之间乱搬 ⇒ 网络可「放错子带」来骗过 L1。</a:t>
            </a:r>
          </a:p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做法：对 4 个二进制位移偏移 s∈{(0,0),(1,0),(0,1),(1,1)} 分别做小波高频损失并取平均：</a:t>
            </a:r>
          </a:p>
          <a:p>
            <a:pPr lvl="1">
              <a:spcAft>
                <a:spcPts val="300"/>
              </a:spcAft>
              <a:defRPr sz="1250">
                <a:solidFill>
                  <a:srgbClr val="444444"/>
                </a:solidFill>
              </a:defRPr>
            </a:pPr>
            <a:r>
              <a:t>L_shift = (1/4) Σ_s L_HF( roll(ŷ, s), roll(y, s) )   —— 使高频目标近似平移不变。</a:t>
            </a:r>
          </a:p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另实现真·双树复小波 DTCWT（两棵树 1px 偏移 → 方向子带取模），但在强基座上实测不敌「Haar+移位集成」。</a:t>
            </a:r>
          </a:p>
          <a:p>
            <a:pPr>
              <a:spcAft>
                <a:spcPts val="600"/>
              </a:spcAft>
              <a:defRPr sz="1450">
                <a:solidFill>
                  <a:srgbClr val="202020"/>
                </a:solidFill>
              </a:defRPr>
            </a:pPr>
            <a:r>
              <a:t>结果：移位集成把 MUSIQ 顶到全项目最高 56.02（非 TTA）/ MANIQA 0.3534——是机制层面唯一仍在涨点的项。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三、方法 · Muon 优化器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把「正交」从损失推广到优化器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对 ≥2D 权重用 Muon：对动量缓冲做 Newton–Schulz 迭代求近似正交化 O=NS(G)，更新 Δθ = −η·scale·O。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直觉：正交化更新让各奇异方向步长均衡（谱归一化），在小数据 SR 上比 AdamW 更接近最优步。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1D 参数（bias/norm）仍用 AdamW 复合；两路各自独立 cosine 调度（aux-lr 解耦）。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实测（bs=128 对照）：Muon 在 1e-3~1e-2 全 lr 段三指标胜 AdamW；最优 lr=5e-3。</a:t>
            </a:r>
          </a:p>
          <a:p>
            <a:pPr lvl="1"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关键旁证：零预训练 + Muon 的分数已≈预训练 + AdamW，即 Muon 抵掉一大截预训练收益。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三、方法 · 预训练与测试时增强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把可复用的先验与方差削减叠上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BSRGAN 二阶合成退化在 DIV2K+Flickr2K 预训练 → 在 RealSR 上微调（Muon+λ8 小波），四指标同向 +0.09 dB。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TTA：D4 群 8 个变换各前向、反变换回原方向、float 平均、最后一次性量化为 uint8。</a:t>
            </a:r>
          </a:p>
          <a:p>
            <a:pPr lvl="1">
              <a:spcAft>
                <a:spcPts val="300"/>
              </a:spcAft>
              <a:defRPr sz="1400">
                <a:solidFill>
                  <a:srgbClr val="444444"/>
                </a:solidFill>
              </a:defRPr>
            </a:pPr>
            <a:r>
              <a:t>纯推理端免费增益：抬 SSIM/PSNR/MANIQA；MUSIQ 常持平（8 重平均轻微平滑极锐纹理）——再次说明须多指标同看。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四、实验 · 主表①：官方配对协议 A-strict（本项目自测，全指标）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有限量程Y · 不剃边 · 100 对 —— 同格最优加粗、次优下划线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325880"/>
          <a:ext cx="13167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PSNR-Y↑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SSIM↑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MUSIQ↑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MANIQA↑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Bicubic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31.73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0.8876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39.4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0.278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SwinIR-light（重训）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0.61M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32.88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0.9026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45.43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0.302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SwinIR-largeish（重训）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3.96M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32.97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0.9058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46.79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0.305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E11 Mod-SwinIR+Align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4.05M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33.47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0.9143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49.15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0.309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EDSR-baseline（复现）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CNN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1.19M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33.6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0.9167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53.14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0.327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latent rectified-flow（我们）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生成式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32.9M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28.36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0.7900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50.12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0.224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s1_b64（AdamW, 零预训练）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U-Net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18.7M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sng">
                          <a:solidFill>
                            <a:srgbClr val="202020"/>
                          </a:solidFill>
                        </a:defRPr>
                      </a:pPr>
                      <a:r>
                        <a:t>34.11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sng">
                          <a:solidFill>
                            <a:srgbClr val="202020"/>
                          </a:solidFill>
                        </a:defRPr>
                      </a:pPr>
                      <a:r>
                        <a:t>0.9246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sng">
                          <a:solidFill>
                            <a:srgbClr val="202020"/>
                          </a:solidFill>
                        </a:defRPr>
                      </a:pPr>
                      <a:r>
                        <a:t>55.22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sng">
                          <a:solidFill>
                            <a:srgbClr val="202020"/>
                          </a:solidFill>
                        </a:defRPr>
                      </a:pPr>
                      <a:r>
                        <a:t>0.342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1" u="none">
                          <a:solidFill>
                            <a:srgbClr val="202020"/>
                          </a:solidFill>
                        </a:defRPr>
                      </a:pPr>
                      <a:r>
                        <a:t>Ours（完整配方 + TTA）</a:t>
                      </a:r>
                    </a:p>
                  </a:txBody>
                  <a:tcPr marT="22860" marB="22860"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U-Net stride-1</a:t>
                      </a:r>
                    </a:p>
                  </a:txBody>
                  <a:tcPr marT="22860" marB="22860"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18.7M</a:t>
                      </a:r>
                    </a:p>
                  </a:txBody>
                  <a:tcPr marT="22860" marB="22860"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u="none">
                          <a:solidFill>
                            <a:srgbClr val="B03024"/>
                          </a:solidFill>
                        </a:defRPr>
                      </a:pPr>
                      <a:r>
                        <a:t>34.41</a:t>
                      </a:r>
                    </a:p>
                  </a:txBody>
                  <a:tcPr marT="22860" marB="22860"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u="none">
                          <a:solidFill>
                            <a:srgbClr val="B03024"/>
                          </a:solidFill>
                        </a:defRPr>
                      </a:pPr>
                      <a:r>
                        <a:t>0.9285</a:t>
                      </a:r>
                    </a:p>
                  </a:txBody>
                  <a:tcPr marT="22860" marB="22860"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u="none">
                          <a:solidFill>
                            <a:srgbClr val="B03024"/>
                          </a:solidFill>
                        </a:defRPr>
                      </a:pPr>
                      <a:r>
                        <a:t>55.96</a:t>
                      </a:r>
                    </a:p>
                  </a:txBody>
                  <a:tcPr marT="22860" marB="22860"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u="none">
                          <a:solidFill>
                            <a:srgbClr val="B03024"/>
                          </a:solidFill>
                        </a:defRPr>
                      </a:pPr>
                      <a:r>
                        <a:t>0.3534</a:t>
                      </a:r>
                    </a:p>
                  </a:txBody>
                  <a:tcPr marT="22860" marB="22860">
                    <a:solidFill>
                      <a:srgbClr val="FBE5A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四、实验 · 主表②：文献同协议大表 B-128/512 ×4（全方法·全指标）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统一 RealSR 裁块协议 · 出处 TinySR(2508.17434) · 最优加粗、次优下划线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1252728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1920240"/>
                <a:gridCol w="192024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PSNR-Y↑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SSIM↑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MUSIQ↑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MANIQA↑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BSRGAN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GAN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26.38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0.7651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63.2800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0.5425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Real-ESRGAN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GAN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26.65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0.7603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60.4500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0.5507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LDL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GAN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25.28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0.7565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60.9200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0.5494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DiffBIR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扩散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25.93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0.6525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65.6600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 u="none">
                          <a:solidFill>
                            <a:srgbClr val="B03024"/>
                          </a:solidFill>
                        </a:defRPr>
                      </a:pPr>
                      <a:r>
                        <a:t>0.6296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StableSR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扩散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28.04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0.7454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58.5300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0.5603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SeeSR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扩散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28.14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0.7712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64.7400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sng">
                          <a:solidFill>
                            <a:srgbClr val="202020"/>
                          </a:solidFill>
                        </a:defRPr>
                      </a:pPr>
                      <a:r>
                        <a:t>0.6022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ResShift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扩散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 u="none">
                          <a:solidFill>
                            <a:srgbClr val="B03024"/>
                          </a:solidFill>
                        </a:defRPr>
                      </a:pPr>
                      <a:r>
                        <a:t>28.69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 u="none">
                          <a:solidFill>
                            <a:srgbClr val="B03024"/>
                          </a:solidFill>
                        </a:defRPr>
                      </a:pPr>
                      <a:r>
                        <a:t>0.7874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52.4000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0.4756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SinSR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一步扩散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sng">
                          <a:solidFill>
                            <a:srgbClr val="202020"/>
                          </a:solidFill>
                        </a:defRPr>
                      </a:pPr>
                      <a:r>
                        <a:t>28.38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0.7499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55.0300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0.4904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OSEDiff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一步扩散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27.92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sng">
                          <a:solidFill>
                            <a:srgbClr val="202020"/>
                          </a:solidFill>
                        </a:defRPr>
                      </a:pPr>
                      <a:r>
                        <a:t>0.7836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64.6900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0.5898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AdcSR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一步扩散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28.1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0.7726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sng">
                          <a:solidFill>
                            <a:srgbClr val="202020"/>
                          </a:solidFill>
                        </a:defRPr>
                      </a:pPr>
                      <a:r>
                        <a:t>66.2600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0.5927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TSD-SR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一步扩散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27.77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0.7559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 u="none">
                          <a:solidFill>
                            <a:srgbClr val="B03024"/>
                          </a:solidFill>
                        </a:defRPr>
                      </a:pPr>
                      <a:r>
                        <a:t>66.6200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0.5874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TinySR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一步扩散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27.48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0.7459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65.3600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0.5804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053328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3024"/>
                </a:solidFill>
              </a:defRPr>
            </a:pPr>
            <a:r>
              <a:t>注：此协议输入为再退化的 RealSR（更难），与表①不可跨协议横比；其生成式方法以感知(MUSIQ/MANIQA)换保真(PSNR)。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四、实验 · 免训练实测的数据集上限（三堵墙）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diffusion/oracle.py · 不训练、不外推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80160"/>
          <a:ext cx="12874752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304288"/>
                <a:gridCol w="2304288"/>
                <a:gridCol w="2304288"/>
                <a:gridCol w="2304288"/>
              </a:tblGrid>
              <a:tr h="5486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误差项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×2 (dB)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次列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再列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E_align 亚像素配准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0.2px→41.11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0.3px→37.69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0.5px→33.41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1.0px→27.94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E_null 带宽截断(×2 LR带)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40.65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×3:34.55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×4:31.27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E_noise 传感器(MAD σ≈0.9/255)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49.05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合成(带宽+噪声)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40.1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34.4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31.2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合成 + 0.3px 配准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35.7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~32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~29.5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020"/>
                </a:solidFill>
              </a:defRPr>
            </a:pPr>
            <a:r>
              <a:t>结论：×2 由「配准残差」主导上限≈34.4–35.7 dB；我们的 34.41 dB / 0.9285 SSIM 已落在该带内 ⇒ 保真已近物理极限。</a:t>
            </a:r>
          </a:p>
          <a:p>
            <a:pPr>
              <a:spcAft>
                <a:spcPts val="600"/>
              </a:spcAft>
              <a:defRPr sz="1400">
                <a:solidFill>
                  <a:srgbClr val="202020"/>
                </a:solidFill>
              </a:defRPr>
            </a:pPr>
            <a:r>
              <a:t>修正认知：本数据 GT 噪声很小（σ≈0.9），所谓「38–40dB 噪声底」在此不成立，真正的墙是配准，其次是带宽。</a:t>
            </a:r>
          </a:p>
          <a:p>
            <a:pPr>
              <a:spcAft>
                <a:spcPts val="600"/>
              </a:spcAft>
              <a:defRPr sz="1400">
                <a:solidFill>
                  <a:srgbClr val="202020"/>
                </a:solidFill>
              </a:defRPr>
            </a:pPr>
            <a:r>
              <a:t>含义：再往上刷 PSNR 只能向条件均值抹高频（降感知）——这正是扩散/生成式 PSNR 崩塌的原因（见下页散点）。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四、实验 · 感知-失真权衡（同协议自证）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14</a:t>
            </a:r>
          </a:p>
        </p:txBody>
      </p:sp>
      <p:pic>
        <p:nvPicPr>
          <p:cNvPr id="5" name="Picture 4" descr="fi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44200" cy="5985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744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同测试集同协议：我们回归处于保真前沿，自有生成臂以约 6 dB 换无参考 IQA，与 Blau-Michaeli(CVPR18) 吻合。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四、实验 · 主表①可视化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柱状图与表①同源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15</a:t>
            </a:r>
          </a:p>
        </p:txBody>
      </p:sp>
      <p:pic>
        <p:nvPicPr>
          <p:cNvPr id="5" name="Picture 4" descr="fi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44200" cy="39443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744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官方配对协议下 PSNR / SSIM 阶梯；红虚线为最终结果 34.41 dB。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四、实验 · 消融（同协议单因子，Δ PSNR-Y dB）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80160"/>
          <a:ext cx="12115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880360"/>
                <a:gridCol w="2880360"/>
                <a:gridCol w="288036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改动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Δ PSNR-Y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stride-2 → stride-1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架构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最大单项杠杆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 小波高频损失 λ8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+0.11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损失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MUSIQ/MANIQA 同时↑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 Muon(5e-3)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+0.15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优化器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抵一部分预训练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 移位集成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+0.02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损失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MUSIQ 最高 56.0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 BSRGAN 预训练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+0.09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数据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6× 训练时长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 TTA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+0.10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推理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8× 推理，SSIM/MANIQA↑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容量 5M→72.5M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+0.05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规模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 u="none">
                          <a:solidFill>
                            <a:srgbClr val="202020"/>
                          </a:solidFill>
                        </a:defRPr>
                      </a:pPr>
                      <a:r>
                        <a:t>饱和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四、实验 · 消融可视化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17</a:t>
            </a:r>
          </a:p>
        </p:txBody>
      </p:sp>
      <p:pic>
        <p:nvPicPr>
          <p:cNvPr id="5" name="Picture 4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44200" cy="4842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744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机制项（架构 + 正交频率损失 + 优化器）主导，纯堆参数饱和。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四、实验 · 跨尺度迁移与 scale-adaptive 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371600"/>
          <a:ext cx="105887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304288"/>
                <a:gridCol w="2304288"/>
                <a:gridCol w="2304288"/>
                <a:gridCol w="2304288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尺度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plain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ours(best λ)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该尺度上限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 marT="27432" marB="27432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×2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34.11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34.41(λ8+shift+TTA)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≈35.7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在天花板内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×3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31.04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31.13(λ2)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≈34.4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欠调，仍有空间</a:t>
                      </a:r>
                    </a:p>
                  </a:txBody>
                  <a:tcPr marT="22860" marB="22860"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×4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29.42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29.51(λ5)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≈31.2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 u="none">
                          <a:solidFill>
                            <a:srgbClr val="202020"/>
                          </a:solidFill>
                        </a:defRPr>
                      </a:pPr>
                      <a:r>
                        <a:t>接近天花板</a:t>
                      </a:r>
                    </a:p>
                  </a:txBody>
                  <a:tcPr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最优 λ 随退化强度反相关：×2≈8、×3≈2、×4≈5（×3 处 λ5 过锐、MUSIQ 反降；×4  λ5 全面有效）。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绝对值随尺度下降是任务本身更难，不可与 ×2 横比。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结论：×3/×4 因本轮欠调仍有余量——是唯一在保真轴上明确「未做满」的方向。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四、实验 · 负结果汇总（28+ 臂，同协议、如实报告）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扩散 2×2 矩阵（pixel/latent × flow/reg）：均低于 bicubic 或不超自身零初始化。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Mamba/VSS 扫描骨干：等样本预算 −2.3 dB（访存受限、样本效率差）——关线。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几何/结构正则：D4 等变、坐标注入、频域软路由、门控 FFN、压平金字塔——持平或负。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小波架构化尝试：双射小波 U-Net、双路小波 U-Net（完全体）、DTCWT 基——均不敌「Haar 高频损失 + 移位集成」。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频域 rectified flow（HF 残差生成）：修好 OOM/scale 后仍单调毁图——生成不可预测高频只注入伪影。</a:t>
            </a:r>
          </a:p>
          <a:p>
            <a:pPr>
              <a:spcAft>
                <a:spcPts val="600"/>
              </a:spcAft>
              <a:defRPr sz="1500">
                <a:solidFill>
                  <a:srgbClr val="202020"/>
                </a:solidFill>
              </a:defRPr>
            </a:pPr>
            <a:r>
              <a:t>对抗挖数据多样性（N3，配 Muon）：中性，未破平台。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五、结论与下一步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一套「数学上讲得通」的配方：stride-1 + 正交小波高频损失(含移位集成) + Muon + 预训练 + TTA → 34.41 dB / 0.9285 SSIM。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同协议、四指标全面领先重训 SwinIR（+1.44 dB / +9.2 MUSIQ / +0.048 MANIQA），且参数量远小于同代 Transformer。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免训练实测证明：×2 PSNR 上限 ~34.4–35.7 dB（配准主导），我们已在天花板内——不是模型不够，是物理不允许。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下一步：×3/×4 用完整配方逼近其上限（唯一明确余量）；保真见顶后，感知轴（MUSIQ/LPIPS/FID）是主战场。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参考文献</a:t>
            </a:r>
          </a:p>
          <a:p>
            <a:pPr>
              <a:defRPr sz="1200">
                <a:solidFill>
                  <a:srgbClr val="C7D6E5"/>
                </a:solidFill>
              </a:defRPr>
            </a:pPr>
            <a:r>
              <a:t>均联网核实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真实世界单帧超分 · RealSR(V3) ×2 · 判别式回归 + 正交小波高频损失 + Muon +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92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Cai et al. RealSR / LP-KPN, ICCV 2019.   Liang et al. SwinIR, ICCV-W 2021.   Lim et al. EDSR, CVPR-W 2017.   Zhang et al. RCAN, ECCV 2018.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Wang et al. ESRGAN ECCV-W 2018 · BSRGAN ICCV 2021 · Real-ESRGAN ICCV-W 2021.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Qiao et al. RealSR-R1, arXiv:2506.16796 (2025).   TinySR, arXiv:2508.17434 (2025).（文献基线表出处）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Blau &amp; Michaeli. The Perception-Distortion Tradeoff, CVPR 2018, DOI 10.1109/CVPR.2018.00652.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Baker &amp; Kanade. Limits on Super-Resolution and How to Break Them, IEEE TPAMI 2002, DOI 10.1109/TPAMI.2002.1033210.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Robinson &amp; Milanfar. Fundamental Performance Limits in Image Registration, IEEE TIP 2004；Statistical Performance Analysis of SR, TIP 2006.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Chatterjee &amp; Milanfar. Is Denoising Dead?, IEEE TIP 2010.   Donoho &amp; Johnstone. Wavelet Shrinkage (MAD 噪声估计), Biometrika 1994.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